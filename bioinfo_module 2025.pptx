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73" r:id="rId3"/>
    <p:sldId id="335" r:id="rId4"/>
    <p:sldId id="317" r:id="rId5"/>
    <p:sldId id="300" r:id="rId6"/>
    <p:sldId id="318" r:id="rId7"/>
    <p:sldId id="334" r:id="rId8"/>
    <p:sldId id="336" r:id="rId9"/>
    <p:sldId id="337" r:id="rId10"/>
    <p:sldId id="338" r:id="rId11"/>
    <p:sldId id="342" r:id="rId12"/>
    <p:sldId id="341" r:id="rId13"/>
    <p:sldId id="339" r:id="rId14"/>
    <p:sldId id="340" r:id="rId15"/>
    <p:sldId id="333" r:id="rId16"/>
    <p:sldId id="34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91" autoAdjust="0"/>
    <p:restoredTop sz="94660"/>
  </p:normalViewPr>
  <p:slideViewPr>
    <p:cSldViewPr snapToGrid="0">
      <p:cViewPr varScale="1">
        <p:scale>
          <a:sx n="71" d="100"/>
          <a:sy n="71" d="100"/>
        </p:scale>
        <p:origin x="63" y="5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DB32B-D8BE-400E-B81E-9396631CA92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035C36-0B6C-40FD-AF85-15058403068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59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35C36-0B6C-40FD-AF85-1505840306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50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6511-0B42-4AA8-9EA7-C6C5DF954EA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E675-7198-488E-9F75-8A85856DE62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75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6511-0B42-4AA8-9EA7-C6C5DF954EA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E675-7198-488E-9F75-8A85856DE62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65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6511-0B42-4AA8-9EA7-C6C5DF954EA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E675-7198-488E-9F75-8A85856DE62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49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6511-0B42-4AA8-9EA7-C6C5DF954EA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E675-7198-488E-9F75-8A85856DE62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5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6511-0B42-4AA8-9EA7-C6C5DF954EA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E675-7198-488E-9F75-8A85856DE62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30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6511-0B42-4AA8-9EA7-C6C5DF954EA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E675-7198-488E-9F75-8A85856DE62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49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6511-0B42-4AA8-9EA7-C6C5DF954EA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E675-7198-488E-9F75-8A85856DE62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49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6511-0B42-4AA8-9EA7-C6C5DF954EA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E675-7198-488E-9F75-8A85856DE62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80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6511-0B42-4AA8-9EA7-C6C5DF954EA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E675-7198-488E-9F75-8A85856DE62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04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6511-0B42-4AA8-9EA7-C6C5DF954EA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E675-7198-488E-9F75-8A85856DE62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24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6511-0B42-4AA8-9EA7-C6C5DF954EA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E675-7198-488E-9F75-8A85856DE623}" type="slidenum">
              <a:rPr lang="en-US" smtClean="0"/>
              <a:t>‹Nr.›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7442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6511-0B42-4AA8-9EA7-C6C5DF954EA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E675-7198-488E-9F75-8A85856DE62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063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6511-0B42-4AA8-9EA7-C6C5DF954EA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E675-7198-488E-9F75-8A85856DE623}" type="slidenum">
              <a:rPr lang="en-US" smtClean="0"/>
              <a:t>‹Nr.›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186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6511-0B42-4AA8-9EA7-C6C5DF954EA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E675-7198-488E-9F75-8A85856DE62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01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6511-0B42-4AA8-9EA7-C6C5DF954EA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E675-7198-488E-9F75-8A85856DE62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754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6511-0B42-4AA8-9EA7-C6C5DF954EA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1E675-7198-488E-9F75-8A85856DE62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65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F6511-0B42-4AA8-9EA7-C6C5DF954EA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341E675-7198-488E-9F75-8A85856DE62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98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752D9-52AA-F55D-737E-A204137BD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154" y="1418094"/>
            <a:ext cx="10021121" cy="2445011"/>
          </a:xfrm>
        </p:spPr>
        <p:txBody>
          <a:bodyPr>
            <a:noAutofit/>
          </a:bodyPr>
          <a:lstStyle/>
          <a:p>
            <a:pPr algn="ctr"/>
            <a:r>
              <a:rPr lang="en-US" sz="44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Bioinfo</a:t>
            </a:r>
            <a:r>
              <a:rPr lang="en-US" sz="4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module WS 25/26</a:t>
            </a:r>
            <a:br>
              <a:rPr lang="en-US" sz="4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“Differential expression and Batch effects”</a:t>
            </a:r>
            <a:br>
              <a:rPr lang="en-US" sz="44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en-US" sz="4400" dirty="0"/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B4EF6CBC-7211-9AB9-0801-F800E333CBD4}"/>
              </a:ext>
            </a:extLst>
          </p:cNvPr>
          <p:cNvSpPr txBox="1">
            <a:spLocks/>
          </p:cNvSpPr>
          <p:nvPr/>
        </p:nvSpPr>
        <p:spPr>
          <a:xfrm>
            <a:off x="3529324" y="4569289"/>
            <a:ext cx="3946779" cy="1038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latin typeface="+mj-lt"/>
              </a:rPr>
              <a:t>Johannes Wolter</a:t>
            </a:r>
            <a:endParaRPr lang="en-DE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59924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EB2EE21F-0345-12E7-75C2-19CC9E1C3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6621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RNA-</a:t>
            </a:r>
            <a:r>
              <a:rPr lang="en-GB" dirty="0"/>
              <a:t>S</a:t>
            </a:r>
            <a:r>
              <a:rPr lang="en-GB" dirty="0">
                <a:solidFill>
                  <a:schemeClr val="tx1"/>
                </a:solidFill>
              </a:rPr>
              <a:t>equencing</a:t>
            </a:r>
            <a:endParaRPr lang="en-DE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375089-79EC-B695-E0C6-3C5FD32723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30" t="-4303" b="-1"/>
          <a:stretch/>
        </p:blipFill>
        <p:spPr bwMode="auto">
          <a:xfrm>
            <a:off x="6517341" y="0"/>
            <a:ext cx="5665693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FE09C41F-8158-1806-068E-966C26F0D60F}"/>
              </a:ext>
            </a:extLst>
          </p:cNvPr>
          <p:cNvSpPr txBox="1"/>
          <p:nvPr/>
        </p:nvSpPr>
        <p:spPr>
          <a:xfrm>
            <a:off x="758416" y="1784500"/>
            <a:ext cx="4916244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Sequencing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Quality control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Mapping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Counts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800" dirty="0" err="1">
                <a:solidFill>
                  <a:schemeClr val="accent1"/>
                </a:solidFill>
              </a:rPr>
              <a:t>Differenftial</a:t>
            </a:r>
            <a:r>
              <a:rPr lang="en-GB" sz="2800" dirty="0">
                <a:solidFill>
                  <a:schemeClr val="accent1"/>
                </a:solidFill>
              </a:rPr>
              <a:t> expression </a:t>
            </a:r>
            <a:r>
              <a:rPr lang="en-GB" sz="2000" dirty="0">
                <a:solidFill>
                  <a:schemeClr val="accent1"/>
                </a:solidFill>
              </a:rPr>
              <a:t>(which genes are expressed at different levels between conditions)</a:t>
            </a:r>
            <a:endParaRPr lang="en-DE" sz="2800" dirty="0">
              <a:solidFill>
                <a:schemeClr val="accent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2ED4958-DDEF-0041-5D93-34D4BF61E05C}"/>
              </a:ext>
            </a:extLst>
          </p:cNvPr>
          <p:cNvSpPr/>
          <p:nvPr/>
        </p:nvSpPr>
        <p:spPr>
          <a:xfrm>
            <a:off x="6221506" y="8965"/>
            <a:ext cx="596152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Foliennummernplatzhalter 3">
            <a:extLst>
              <a:ext uri="{FF2B5EF4-FFF2-40B4-BE49-F238E27FC236}">
                <a16:creationId xmlns:a16="http://schemas.microsoft.com/office/drawing/2014/main" id="{24B983C5-8E13-35CD-6DA7-AC9477823D4D}"/>
              </a:ext>
            </a:extLst>
          </p:cNvPr>
          <p:cNvSpPr txBox="1">
            <a:spLocks/>
          </p:cNvSpPr>
          <p:nvPr/>
        </p:nvSpPr>
        <p:spPr>
          <a:xfrm>
            <a:off x="9452347" y="6406487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4</a:t>
            </a:r>
            <a:endParaRPr lang="en-DE" sz="1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1953D2E-0170-47A3-D6E4-3899DE4B015E}"/>
              </a:ext>
            </a:extLst>
          </p:cNvPr>
          <p:cNvSpPr txBox="1"/>
          <p:nvPr/>
        </p:nvSpPr>
        <p:spPr>
          <a:xfrm>
            <a:off x="6096000" y="6648501"/>
            <a:ext cx="61357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000" dirty="0"/>
              <a:t>https://biocorecrg.github.io/RNAseq_course_2019/alignment.html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57E28CBD-A144-6E8F-4B20-2485AFD0989D}"/>
              </a:ext>
            </a:extLst>
          </p:cNvPr>
          <p:cNvSpPr/>
          <p:nvPr/>
        </p:nvSpPr>
        <p:spPr>
          <a:xfrm>
            <a:off x="8035872" y="4985733"/>
            <a:ext cx="3014420" cy="1027841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1625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9E577-CFD0-5A83-C062-7E2CEEC03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77267D0C-B68C-ACB0-4898-EE5BC726A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6621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RNA-</a:t>
            </a:r>
            <a:r>
              <a:rPr lang="en-GB" dirty="0"/>
              <a:t>S</a:t>
            </a:r>
            <a:r>
              <a:rPr lang="en-GB" dirty="0">
                <a:solidFill>
                  <a:schemeClr val="tx1"/>
                </a:solidFill>
              </a:rPr>
              <a:t>equencing</a:t>
            </a:r>
            <a:endParaRPr lang="en-DE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7977081-03E5-019D-CD37-572E0F329E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30" t="-4303" b="-1"/>
          <a:stretch/>
        </p:blipFill>
        <p:spPr bwMode="auto">
          <a:xfrm>
            <a:off x="6517341" y="0"/>
            <a:ext cx="5665693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CE1145E-AD59-B17D-FE0D-07905B2696CB}"/>
              </a:ext>
            </a:extLst>
          </p:cNvPr>
          <p:cNvSpPr txBox="1"/>
          <p:nvPr/>
        </p:nvSpPr>
        <p:spPr>
          <a:xfrm>
            <a:off x="758416" y="1784500"/>
            <a:ext cx="4916244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Sequencing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Quality control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Mapping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Counts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800" dirty="0" err="1">
                <a:solidFill>
                  <a:schemeClr val="accent1"/>
                </a:solidFill>
              </a:rPr>
              <a:t>Differenftial</a:t>
            </a:r>
            <a:r>
              <a:rPr lang="en-GB" sz="2800" dirty="0">
                <a:solidFill>
                  <a:schemeClr val="accent1"/>
                </a:solidFill>
              </a:rPr>
              <a:t> expression </a:t>
            </a:r>
            <a:r>
              <a:rPr lang="en-GB" sz="2000" dirty="0">
                <a:solidFill>
                  <a:schemeClr val="accent1"/>
                </a:solidFill>
              </a:rPr>
              <a:t>(which genes are expressed at different levels between conditions)</a:t>
            </a:r>
            <a:endParaRPr lang="en-DE" sz="2800" dirty="0">
              <a:solidFill>
                <a:schemeClr val="accent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5DDED1B-772F-6E2E-62B1-B39908A70105}"/>
              </a:ext>
            </a:extLst>
          </p:cNvPr>
          <p:cNvSpPr/>
          <p:nvPr/>
        </p:nvSpPr>
        <p:spPr>
          <a:xfrm>
            <a:off x="6221506" y="8965"/>
            <a:ext cx="596152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Foliennummernplatzhalter 3">
            <a:extLst>
              <a:ext uri="{FF2B5EF4-FFF2-40B4-BE49-F238E27FC236}">
                <a16:creationId xmlns:a16="http://schemas.microsoft.com/office/drawing/2014/main" id="{C7ABFF98-16E6-7E0E-EB97-69461F09F437}"/>
              </a:ext>
            </a:extLst>
          </p:cNvPr>
          <p:cNvSpPr txBox="1">
            <a:spLocks/>
          </p:cNvSpPr>
          <p:nvPr/>
        </p:nvSpPr>
        <p:spPr>
          <a:xfrm>
            <a:off x="9452347" y="6406487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4</a:t>
            </a:r>
            <a:endParaRPr lang="en-DE" sz="1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8525769-9AE0-6184-5918-600C3F132DA9}"/>
              </a:ext>
            </a:extLst>
          </p:cNvPr>
          <p:cNvSpPr txBox="1"/>
          <p:nvPr/>
        </p:nvSpPr>
        <p:spPr>
          <a:xfrm>
            <a:off x="6096000" y="6648501"/>
            <a:ext cx="61357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000" dirty="0"/>
              <a:t>https://biocorecrg.github.io/RNAseq_course_2019/alignment.html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F2B961F-5B6C-B9F9-4BD1-91EF81A68C1F}"/>
              </a:ext>
            </a:extLst>
          </p:cNvPr>
          <p:cNvSpPr/>
          <p:nvPr/>
        </p:nvSpPr>
        <p:spPr>
          <a:xfrm>
            <a:off x="8035872" y="4985733"/>
            <a:ext cx="3014420" cy="1027841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79B51985-DC5B-E9CD-80A1-29776BBC0A05}"/>
              </a:ext>
            </a:extLst>
          </p:cNvPr>
          <p:cNvSpPr/>
          <p:nvPr/>
        </p:nvSpPr>
        <p:spPr>
          <a:xfrm>
            <a:off x="3812583" y="2929180"/>
            <a:ext cx="3944319" cy="2270501"/>
          </a:xfrm>
          <a:custGeom>
            <a:avLst/>
            <a:gdLst>
              <a:gd name="connsiteX0" fmla="*/ 0 w 3944319"/>
              <a:gd name="connsiteY0" fmla="*/ 0 h 2270501"/>
              <a:gd name="connsiteX1" fmla="*/ 1805553 w 3944319"/>
              <a:gd name="connsiteY1" fmla="*/ 286718 h 2270501"/>
              <a:gd name="connsiteX2" fmla="*/ 2154264 w 3944319"/>
              <a:gd name="connsiteY2" fmla="*/ 1658318 h 2270501"/>
              <a:gd name="connsiteX3" fmla="*/ 3944319 w 3944319"/>
              <a:gd name="connsiteY3" fmla="*/ 2270501 h 2270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44319" h="2270501">
                <a:moveTo>
                  <a:pt x="0" y="0"/>
                </a:moveTo>
                <a:cubicBezTo>
                  <a:pt x="723254" y="5166"/>
                  <a:pt x="1446509" y="10332"/>
                  <a:pt x="1805553" y="286718"/>
                </a:cubicBezTo>
                <a:cubicBezTo>
                  <a:pt x="2164597" y="563104"/>
                  <a:pt x="1797803" y="1327688"/>
                  <a:pt x="2154264" y="1658318"/>
                </a:cubicBezTo>
                <a:cubicBezTo>
                  <a:pt x="2510725" y="1988948"/>
                  <a:pt x="3600773" y="2185260"/>
                  <a:pt x="3944319" y="2270501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1A286141-E06A-1B57-404B-D8CF0DD96238}"/>
              </a:ext>
            </a:extLst>
          </p:cNvPr>
          <p:cNvSpPr/>
          <p:nvPr/>
        </p:nvSpPr>
        <p:spPr>
          <a:xfrm rot="11610376" flipH="1">
            <a:off x="7467052" y="5154426"/>
            <a:ext cx="357757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4B838FB-52BA-59A5-D8D2-F59C5EC6BE8D}"/>
              </a:ext>
            </a:extLst>
          </p:cNvPr>
          <p:cNvSpPr txBox="1"/>
          <p:nvPr/>
        </p:nvSpPr>
        <p:spPr>
          <a:xfrm>
            <a:off x="5905294" y="2680803"/>
            <a:ext cx="535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?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632DF55-B1DC-A1D9-6DD6-7A9274F7BF1E}"/>
              </a:ext>
            </a:extLst>
          </p:cNvPr>
          <p:cNvSpPr txBox="1"/>
          <p:nvPr/>
        </p:nvSpPr>
        <p:spPr>
          <a:xfrm>
            <a:off x="4272549" y="2298814"/>
            <a:ext cx="535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?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621CB20-5580-076D-23E1-14C7AFB29F9C}"/>
              </a:ext>
            </a:extLst>
          </p:cNvPr>
          <p:cNvSpPr txBox="1"/>
          <p:nvPr/>
        </p:nvSpPr>
        <p:spPr>
          <a:xfrm>
            <a:off x="7041189" y="4479146"/>
            <a:ext cx="535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?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05AFABF-2252-5B9C-D98D-36333333BB7F}"/>
              </a:ext>
            </a:extLst>
          </p:cNvPr>
          <p:cNvSpPr txBox="1"/>
          <p:nvPr/>
        </p:nvSpPr>
        <p:spPr>
          <a:xfrm>
            <a:off x="5293247" y="3967567"/>
            <a:ext cx="535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?</a:t>
            </a:r>
          </a:p>
        </p:txBody>
      </p:sp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92DA7AFD-4A41-584A-2BBB-BFD995307984}"/>
              </a:ext>
            </a:extLst>
          </p:cNvPr>
          <p:cNvSpPr/>
          <p:nvPr/>
        </p:nvSpPr>
        <p:spPr>
          <a:xfrm>
            <a:off x="5579389" y="925717"/>
            <a:ext cx="2859437" cy="2270500"/>
          </a:xfrm>
          <a:custGeom>
            <a:avLst/>
            <a:gdLst>
              <a:gd name="connsiteX0" fmla="*/ 2921430 w 2921430"/>
              <a:gd name="connsiteY0" fmla="*/ 213408 h 2243686"/>
              <a:gd name="connsiteX1" fmla="*/ 472698 w 2921430"/>
              <a:gd name="connsiteY1" fmla="*/ 190161 h 2243686"/>
              <a:gd name="connsiteX2" fmla="*/ 0 w 2921430"/>
              <a:gd name="connsiteY2" fmla="*/ 2243686 h 2243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1430" h="2243686">
                <a:moveTo>
                  <a:pt x="2921430" y="213408"/>
                </a:moveTo>
                <a:cubicBezTo>
                  <a:pt x="1940516" y="32594"/>
                  <a:pt x="959603" y="-148219"/>
                  <a:pt x="472698" y="190161"/>
                </a:cubicBezTo>
                <a:cubicBezTo>
                  <a:pt x="-14207" y="528541"/>
                  <a:pt x="76200" y="1915639"/>
                  <a:pt x="0" y="2243686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6359547-F5E1-2185-3E6D-1A8A6E2B8B2F}"/>
              </a:ext>
            </a:extLst>
          </p:cNvPr>
          <p:cNvSpPr/>
          <p:nvPr/>
        </p:nvSpPr>
        <p:spPr>
          <a:xfrm>
            <a:off x="5848452" y="1421139"/>
            <a:ext cx="2385473" cy="935701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F30245F-A084-D97D-DB28-78860AB757D1}"/>
              </a:ext>
            </a:extLst>
          </p:cNvPr>
          <p:cNvSpPr txBox="1"/>
          <p:nvPr/>
        </p:nvSpPr>
        <p:spPr>
          <a:xfrm>
            <a:off x="5989866" y="1655767"/>
            <a:ext cx="2130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Batch </a:t>
            </a:r>
            <a:r>
              <a:rPr lang="de-DE" sz="2400" dirty="0" err="1"/>
              <a:t>Effects</a:t>
            </a:r>
            <a:r>
              <a:rPr lang="de-DE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78623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2B102-9C30-19B4-9F60-C2E9C85FE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Batch Effects and Batch Correction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348108-7BAE-33BD-200C-D24DA9F89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59" y="1766778"/>
            <a:ext cx="11165023" cy="437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865CE1-4430-FDE8-DD4B-A73BAB1D862B}"/>
              </a:ext>
            </a:extLst>
          </p:cNvPr>
          <p:cNvSpPr txBox="1"/>
          <p:nvPr/>
        </p:nvSpPr>
        <p:spPr>
          <a:xfrm>
            <a:off x="655318" y="6142653"/>
            <a:ext cx="55907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from: https://www.10xgenomics.com/analysis-guides/introduction-batch-effect-correction</a:t>
            </a:r>
          </a:p>
        </p:txBody>
      </p:sp>
      <p:sp>
        <p:nvSpPr>
          <p:cNvPr id="3" name="Foliennummernplatzhalter 3">
            <a:extLst>
              <a:ext uri="{FF2B5EF4-FFF2-40B4-BE49-F238E27FC236}">
                <a16:creationId xmlns:a16="http://schemas.microsoft.com/office/drawing/2014/main" id="{6CA131BA-8FA7-E34E-111E-B23E40D93EC1}"/>
              </a:ext>
            </a:extLst>
          </p:cNvPr>
          <p:cNvSpPr txBox="1">
            <a:spLocks/>
          </p:cNvSpPr>
          <p:nvPr/>
        </p:nvSpPr>
        <p:spPr>
          <a:xfrm>
            <a:off x="9452347" y="6406487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1</a:t>
            </a:r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119458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13030-ABE1-5D5E-6413-4C6D1C957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Batch effects and batch correction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40FC06-0F84-8C20-7233-BFED93670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90" y="1473768"/>
            <a:ext cx="10459910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85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3D910-96AE-9ADC-58A5-98216EA03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C4953-3DE1-B062-1972-80D8D56CC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Batch Effects and Batch Correction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1CA498-49F8-894F-4D4C-2AC777566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63404"/>
            <a:ext cx="9051882" cy="448499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</a:rPr>
              <a:t>Batch effects are unwanted </a:t>
            </a:r>
            <a:r>
              <a:rPr lang="en-GB" sz="2400" u="sng" dirty="0">
                <a:solidFill>
                  <a:schemeClr val="accent1"/>
                </a:solidFill>
              </a:rPr>
              <a:t>artifacts</a:t>
            </a:r>
            <a:r>
              <a:rPr lang="en-GB" sz="2400" dirty="0">
                <a:solidFill>
                  <a:schemeClr val="accent1"/>
                </a:solidFill>
              </a:rPr>
              <a:t> or </a:t>
            </a:r>
            <a:r>
              <a:rPr lang="en-GB" sz="2400" u="sng" dirty="0">
                <a:solidFill>
                  <a:schemeClr val="accent1"/>
                </a:solidFill>
              </a:rPr>
              <a:t>noise</a:t>
            </a:r>
            <a:r>
              <a:rPr lang="en-GB" sz="2400" dirty="0">
                <a:solidFill>
                  <a:schemeClr val="accent1"/>
                </a:solidFill>
              </a:rPr>
              <a:t> in the data that are not associated with the biological condition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</a:rPr>
              <a:t>Often labelled as “batch effects” because they become apparent when analysing different batches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</a:rPr>
              <a:t>Sources for batch effects or artifacts in the data are numerous and diverse. Biological circumstances can also lead to unwanted artifacts in the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</a:rPr>
              <a:t>Biological sources e.g.: biological sex, age, ethnicity, …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</a:rPr>
              <a:t>Technical sources  e.g.: different handlers, base mismatch, average base quality, …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D2DD68-6918-A894-95D4-72B7555DE527}"/>
              </a:ext>
            </a:extLst>
          </p:cNvPr>
          <p:cNvSpPr txBox="1">
            <a:spLocks/>
          </p:cNvSpPr>
          <p:nvPr/>
        </p:nvSpPr>
        <p:spPr>
          <a:xfrm>
            <a:off x="9452347" y="6406487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2</a:t>
            </a:r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461830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9BF77-CCF3-8412-BF0C-E665DDEA4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A5EC1-31EC-E7F9-EA23-528589885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Dimension Reduction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6999B2-7A6E-07D9-02C1-1F0931F63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63404"/>
            <a:ext cx="4264536" cy="448499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</a:rPr>
              <a:t>How can we imagine and visualize highly complex data?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</a:rPr>
              <a:t>Dimension reduction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</a:rPr>
              <a:t>Explained variance in the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</a:rPr>
              <a:t>Different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chemeClr val="accent1"/>
                </a:solidFill>
              </a:rPr>
              <a:t>Pca</a:t>
            </a:r>
            <a:r>
              <a:rPr lang="en-GB" sz="2400" dirty="0">
                <a:solidFill>
                  <a:schemeClr val="accent1"/>
                </a:solidFill>
              </a:rPr>
              <a:t>, </a:t>
            </a:r>
            <a:r>
              <a:rPr lang="en-GB" sz="2400" dirty="0" err="1">
                <a:solidFill>
                  <a:schemeClr val="accent1"/>
                </a:solidFill>
              </a:rPr>
              <a:t>umap</a:t>
            </a:r>
            <a:r>
              <a:rPr lang="en-GB" sz="2400" dirty="0">
                <a:solidFill>
                  <a:schemeClr val="accent1"/>
                </a:solidFill>
              </a:rPr>
              <a:t>, t-</a:t>
            </a:r>
            <a:r>
              <a:rPr lang="en-GB" sz="2400" dirty="0" err="1">
                <a:solidFill>
                  <a:schemeClr val="accent1"/>
                </a:solidFill>
              </a:rPr>
              <a:t>sne</a:t>
            </a:r>
            <a:endParaRPr lang="en-GB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GB" sz="2400" dirty="0">
              <a:solidFill>
                <a:schemeClr val="accent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63BF48-6A9E-44F4-F4E7-72F6EA921E3E}"/>
              </a:ext>
            </a:extLst>
          </p:cNvPr>
          <p:cNvSpPr txBox="1">
            <a:spLocks/>
          </p:cNvSpPr>
          <p:nvPr/>
        </p:nvSpPr>
        <p:spPr>
          <a:xfrm>
            <a:off x="9452347" y="6406487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2</a:t>
            </a:r>
            <a:endParaRPr lang="en-DE" sz="14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709C228-FBD9-BEDF-F469-E18F19DBA0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0"/>
          <a:stretch/>
        </p:blipFill>
        <p:spPr>
          <a:xfrm>
            <a:off x="4751797" y="1292608"/>
            <a:ext cx="7440203" cy="529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34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ACC21C-33CC-9633-4983-056283484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27" y="493437"/>
            <a:ext cx="8596668" cy="1320800"/>
          </a:xfrm>
        </p:spPr>
        <p:txBody>
          <a:bodyPr>
            <a:normAutofit/>
          </a:bodyPr>
          <a:lstStyle/>
          <a:p>
            <a:r>
              <a:rPr lang="de-DE" sz="4400" dirty="0"/>
              <a:t>Batch-</a:t>
            </a:r>
            <a:r>
              <a:rPr lang="de-DE" sz="4400" dirty="0" err="1"/>
              <a:t>Effects</a:t>
            </a:r>
            <a:r>
              <a:rPr lang="de-DE" sz="4400" dirty="0"/>
              <a:t>?</a:t>
            </a:r>
          </a:p>
        </p:txBody>
      </p:sp>
      <p:pic>
        <p:nvPicPr>
          <p:cNvPr id="8" name="Inhaltsplatzhalter 7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45FEEF51-65EF-E1CD-316D-6937BA066F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51" y="1976989"/>
            <a:ext cx="4298474" cy="3586769"/>
          </a:xfrm>
        </p:spPr>
      </p:pic>
      <p:pic>
        <p:nvPicPr>
          <p:cNvPr id="11" name="Grafik 10" descr="Ein Bild, das Tex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FFB7ADE0-367B-A0A2-E028-9F546AF84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655" y="1651485"/>
            <a:ext cx="4661786" cy="3889926"/>
          </a:xfrm>
          <a:prstGeom prst="rect">
            <a:avLst/>
          </a:prstGeom>
        </p:spPr>
      </p:pic>
      <p:pic>
        <p:nvPicPr>
          <p:cNvPr id="13" name="Grafik 12" descr="Ein Bild, das Tex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520D0845-5452-6BFF-CA45-873DD89372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912" y="1651485"/>
            <a:ext cx="4661786" cy="388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02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435F6-F30C-4F59-607F-9B1D1EFEB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6D37B2-1140-3CAC-7EC9-1A10238A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27" y="493437"/>
            <a:ext cx="8596668" cy="1320800"/>
          </a:xfrm>
        </p:spPr>
        <p:txBody>
          <a:bodyPr>
            <a:normAutofit/>
          </a:bodyPr>
          <a:lstStyle/>
          <a:p>
            <a:r>
              <a:rPr lang="de-DE" sz="4400" dirty="0"/>
              <a:t>Batch-</a:t>
            </a:r>
            <a:r>
              <a:rPr lang="de-DE" sz="4400" dirty="0" err="1"/>
              <a:t>Effects</a:t>
            </a:r>
            <a:r>
              <a:rPr lang="de-DE" sz="4400" dirty="0"/>
              <a:t>?</a:t>
            </a:r>
          </a:p>
        </p:txBody>
      </p:sp>
      <p:pic>
        <p:nvPicPr>
          <p:cNvPr id="6" name="Grafik 5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E69788B0-1001-E39C-F280-1D7528D37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77" y="1525444"/>
            <a:ext cx="5799323" cy="4839119"/>
          </a:xfrm>
          <a:prstGeom prst="rect">
            <a:avLst/>
          </a:prstGeom>
        </p:spPr>
      </p:pic>
      <p:pic>
        <p:nvPicPr>
          <p:cNvPr id="9" name="Grafik 8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3C28C7EA-FBF5-26D3-6705-9B37324160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588" y="1525444"/>
            <a:ext cx="5799323" cy="483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615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0C880-A575-4E1C-8DD8-247089713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19014E-C013-7C67-5E4D-EB1918E9D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27" y="493437"/>
            <a:ext cx="8596668" cy="1320800"/>
          </a:xfrm>
        </p:spPr>
        <p:txBody>
          <a:bodyPr>
            <a:normAutofit/>
          </a:bodyPr>
          <a:lstStyle/>
          <a:p>
            <a:r>
              <a:rPr lang="de-DE" sz="4400" dirty="0"/>
              <a:t>Batch-</a:t>
            </a:r>
            <a:r>
              <a:rPr lang="de-DE" sz="4400" dirty="0" err="1"/>
              <a:t>Effects</a:t>
            </a:r>
            <a:r>
              <a:rPr lang="de-DE" sz="4400" dirty="0"/>
              <a:t>?</a:t>
            </a:r>
          </a:p>
        </p:txBody>
      </p:sp>
      <p:pic>
        <p:nvPicPr>
          <p:cNvPr id="4" name="Grafik 3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8E42ED1-2DB6-7785-D144-C9611B313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27" y="1669841"/>
            <a:ext cx="5799323" cy="4839119"/>
          </a:xfrm>
          <a:prstGeom prst="rect">
            <a:avLst/>
          </a:prstGeom>
        </p:spPr>
      </p:pic>
      <p:pic>
        <p:nvPicPr>
          <p:cNvPr id="9" name="Grafik 8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AD4EFC90-3628-7966-18DF-9EC3A11E7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3213" y="1669840"/>
            <a:ext cx="5799323" cy="483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25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3AB376-46AC-9948-025D-235DCB484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Is</a:t>
            </a:r>
            <a:r>
              <a:rPr lang="de-DE" dirty="0"/>
              <a:t> Batch </a:t>
            </a:r>
            <a:r>
              <a:rPr lang="de-DE" dirty="0" err="1"/>
              <a:t>Correction</a:t>
            </a:r>
            <a:r>
              <a:rPr lang="de-DE" dirty="0"/>
              <a:t> </a:t>
            </a:r>
            <a:r>
              <a:rPr lang="de-DE" dirty="0" err="1"/>
              <a:t>necessary</a:t>
            </a:r>
            <a:r>
              <a:rPr lang="de-DE" dirty="0"/>
              <a:t>?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dangerous</a:t>
            </a:r>
            <a:r>
              <a:rPr lang="de-DE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9CF93A-C269-0EF3-4312-0ADFD6D30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2209933"/>
          </a:xfrm>
        </p:spPr>
        <p:txBody>
          <a:bodyPr>
            <a:normAutofit fontScale="85000" lnSpcReduction="20000"/>
          </a:bodyPr>
          <a:lstStyle/>
          <a:p>
            <a:r>
              <a:rPr lang="de-DE" dirty="0"/>
              <a:t>As </a:t>
            </a:r>
            <a:r>
              <a:rPr lang="de-DE" dirty="0" err="1"/>
              <a:t>often</a:t>
            </a:r>
            <a:r>
              <a:rPr lang="de-DE" dirty="0"/>
              <a:t> in </a:t>
            </a:r>
            <a:r>
              <a:rPr lang="de-DE" dirty="0" err="1"/>
              <a:t>biology</a:t>
            </a:r>
            <a:r>
              <a:rPr lang="de-DE" dirty="0"/>
              <a:t>…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depends</a:t>
            </a:r>
            <a:endParaRPr lang="de-DE" dirty="0"/>
          </a:p>
          <a:p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ground</a:t>
            </a:r>
            <a:r>
              <a:rPr lang="de-DE" dirty="0"/>
              <a:t> </a:t>
            </a:r>
            <a:r>
              <a:rPr lang="de-DE" dirty="0" err="1"/>
              <a:t>truth</a:t>
            </a:r>
            <a:r>
              <a:rPr lang="de-DE" dirty="0"/>
              <a:t> in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, but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dont</a:t>
            </a:r>
            <a:r>
              <a:rPr lang="de-DE" dirty="0"/>
              <a:t> </a:t>
            </a:r>
            <a:r>
              <a:rPr lang="de-DE" dirty="0" err="1"/>
              <a:t>know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endParaRPr lang="de-DE" dirty="0"/>
          </a:p>
          <a:p>
            <a:r>
              <a:rPr lang="de-DE" dirty="0"/>
              <a:t>Batch </a:t>
            </a:r>
            <a:r>
              <a:rPr lang="de-DE" dirty="0" err="1"/>
              <a:t>correction</a:t>
            </a:r>
            <a:r>
              <a:rPr lang="de-DE" dirty="0"/>
              <a:t> </a:t>
            </a:r>
            <a:r>
              <a:rPr lang="de-DE" dirty="0" err="1"/>
              <a:t>good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Information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batches</a:t>
            </a:r>
            <a:r>
              <a:rPr lang="de-DE" dirty="0"/>
              <a:t>, </a:t>
            </a:r>
            <a:r>
              <a:rPr lang="de-DE" dirty="0" err="1"/>
              <a:t>patients</a:t>
            </a:r>
            <a:r>
              <a:rPr lang="de-DE" dirty="0"/>
              <a:t>, …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known</a:t>
            </a:r>
            <a:r>
              <a:rPr lang="de-DE" dirty="0"/>
              <a:t> and </a:t>
            </a:r>
            <a:r>
              <a:rPr lang="de-DE" dirty="0" err="1"/>
              <a:t>available</a:t>
            </a:r>
            <a:endParaRPr lang="de-DE" dirty="0"/>
          </a:p>
          <a:p>
            <a:pPr lvl="1"/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already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experience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(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know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changes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a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tumor</a:t>
            </a:r>
            <a:r>
              <a:rPr lang="de-DE" dirty="0"/>
              <a:t> and </a:t>
            </a:r>
            <a:r>
              <a:rPr lang="de-DE" dirty="0" err="1"/>
              <a:t>controls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Dimension </a:t>
            </a:r>
            <a:r>
              <a:rPr lang="de-DE" dirty="0" err="1"/>
              <a:t>reduction</a:t>
            </a:r>
            <a:r>
              <a:rPr lang="de-DE" dirty="0"/>
              <a:t> </a:t>
            </a:r>
            <a:r>
              <a:rPr lang="de-DE" dirty="0" err="1"/>
              <a:t>reveals</a:t>
            </a:r>
            <a:r>
              <a:rPr lang="de-DE" dirty="0"/>
              <a:t> </a:t>
            </a:r>
            <a:r>
              <a:rPr lang="de-DE" dirty="0" err="1"/>
              <a:t>obvious</a:t>
            </a:r>
            <a:r>
              <a:rPr lang="de-DE" dirty="0"/>
              <a:t> </a:t>
            </a:r>
            <a:r>
              <a:rPr lang="de-DE" dirty="0" err="1"/>
              <a:t>changes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datasets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do not </a:t>
            </a:r>
            <a:r>
              <a:rPr lang="de-DE" dirty="0" err="1"/>
              <a:t>stem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biological</a:t>
            </a:r>
            <a:r>
              <a:rPr lang="de-DE" dirty="0"/>
              <a:t> </a:t>
            </a:r>
            <a:r>
              <a:rPr lang="de-DE" dirty="0" err="1"/>
              <a:t>sources</a:t>
            </a:r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254F9147-DB89-C7EB-A466-8AC8BBA63D55}"/>
              </a:ext>
            </a:extLst>
          </p:cNvPr>
          <p:cNvSpPr txBox="1">
            <a:spLocks/>
          </p:cNvSpPr>
          <p:nvPr/>
        </p:nvSpPr>
        <p:spPr>
          <a:xfrm>
            <a:off x="677334" y="4281274"/>
            <a:ext cx="8596668" cy="2209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Batch </a:t>
            </a:r>
            <a:r>
              <a:rPr lang="de-DE" dirty="0" err="1"/>
              <a:t>correction</a:t>
            </a:r>
            <a:r>
              <a:rPr lang="de-DE" dirty="0"/>
              <a:t> </a:t>
            </a:r>
            <a:r>
              <a:rPr lang="de-DE" dirty="0" err="1"/>
              <a:t>bad</a:t>
            </a:r>
            <a:r>
              <a:rPr lang="de-DE" dirty="0"/>
              <a:t> (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rather</a:t>
            </a:r>
            <a:r>
              <a:rPr lang="de-DE" dirty="0"/>
              <a:t> </a:t>
            </a:r>
            <a:r>
              <a:rPr lang="de-DE" dirty="0" err="1"/>
              <a:t>difficult</a:t>
            </a:r>
            <a:r>
              <a:rPr lang="de-DE" dirty="0"/>
              <a:t>):</a:t>
            </a:r>
          </a:p>
          <a:p>
            <a:pPr lvl="1"/>
            <a:r>
              <a:rPr lang="de-DE" dirty="0"/>
              <a:t>Additional </a:t>
            </a:r>
            <a:r>
              <a:rPr lang="de-DE" dirty="0" err="1"/>
              <a:t>metadata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datasets</a:t>
            </a:r>
            <a:r>
              <a:rPr lang="de-DE" dirty="0"/>
              <a:t>, </a:t>
            </a:r>
            <a:r>
              <a:rPr lang="de-DE" dirty="0" err="1"/>
              <a:t>patients</a:t>
            </a:r>
            <a:r>
              <a:rPr lang="de-DE" dirty="0"/>
              <a:t>, ….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available</a:t>
            </a:r>
            <a:endParaRPr lang="de-DE" dirty="0"/>
          </a:p>
          <a:p>
            <a:pPr lvl="1"/>
            <a:r>
              <a:rPr lang="de-DE" dirty="0" err="1"/>
              <a:t>Researching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,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experience</a:t>
            </a:r>
            <a:r>
              <a:rPr lang="de-DE" dirty="0"/>
              <a:t> and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limited (Note: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not </a:t>
            </a:r>
            <a:r>
              <a:rPr lang="de-DE" dirty="0" err="1"/>
              <a:t>mean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batch</a:t>
            </a:r>
            <a:r>
              <a:rPr lang="de-DE" dirty="0"/>
              <a:t> </a:t>
            </a:r>
            <a:r>
              <a:rPr lang="de-DE" dirty="0" err="1"/>
              <a:t>correction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necessary</a:t>
            </a:r>
            <a:r>
              <a:rPr lang="de-DE" dirty="0"/>
              <a:t>, </a:t>
            </a:r>
            <a:r>
              <a:rPr lang="de-DE" dirty="0" err="1"/>
              <a:t>it</a:t>
            </a:r>
            <a:r>
              <a:rPr lang="de-DE" dirty="0"/>
              <a:t> just </a:t>
            </a:r>
            <a:r>
              <a:rPr lang="de-DE" dirty="0" err="1"/>
              <a:t>means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somewhat</a:t>
            </a:r>
            <a:r>
              <a:rPr lang="de-DE" dirty="0"/>
              <a:t> </a:t>
            </a:r>
            <a:r>
              <a:rPr lang="de-DE" dirty="0" err="1"/>
              <a:t>conservative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correcting</a:t>
            </a:r>
            <a:r>
              <a:rPr lang="de-DE" dirty="0"/>
              <a:t> </a:t>
            </a:r>
          </a:p>
          <a:p>
            <a:pPr lvl="1"/>
            <a:r>
              <a:rPr lang="de-DE" dirty="0"/>
              <a:t>Potential </a:t>
            </a:r>
            <a:r>
              <a:rPr lang="de-DE" dirty="0" err="1"/>
              <a:t>batch</a:t>
            </a:r>
            <a:r>
              <a:rPr lang="de-DE" dirty="0"/>
              <a:t> </a:t>
            </a:r>
            <a:r>
              <a:rPr lang="de-DE" dirty="0" err="1"/>
              <a:t>effects</a:t>
            </a:r>
            <a:r>
              <a:rPr lang="de-DE" dirty="0"/>
              <a:t> and </a:t>
            </a:r>
            <a:r>
              <a:rPr lang="de-DE" dirty="0" err="1"/>
              <a:t>biology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mixed</a:t>
            </a:r>
            <a:r>
              <a:rPr lang="de-DE" dirty="0"/>
              <a:t> -&gt;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cannot</a:t>
            </a:r>
            <a:r>
              <a:rPr lang="de-DE" dirty="0"/>
              <a:t> </a:t>
            </a:r>
            <a:r>
              <a:rPr lang="de-DE" dirty="0" err="1"/>
              <a:t>measure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what</a:t>
            </a:r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2638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1401E-9AE5-6246-1316-93C6C904D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B4799B-E2E9-22BD-99A5-C81E5DF31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Pathways</a:t>
            </a:r>
            <a:r>
              <a:rPr lang="de-DE" dirty="0"/>
              <a:t> </a:t>
            </a:r>
            <a:r>
              <a:rPr lang="de-DE" dirty="0" err="1"/>
              <a:t>analysis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FBC85B7-E012-5A0D-8085-4762C2B8B4C0}"/>
              </a:ext>
            </a:extLst>
          </p:cNvPr>
          <p:cNvSpPr txBox="1"/>
          <p:nvPr/>
        </p:nvSpPr>
        <p:spPr>
          <a:xfrm>
            <a:off x="677334" y="1826815"/>
            <a:ext cx="393276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Different </a:t>
            </a:r>
            <a:r>
              <a:rPr lang="de-DE" dirty="0" err="1"/>
              <a:t>expression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genes </a:t>
            </a:r>
            <a:r>
              <a:rPr lang="de-DE" dirty="0" err="1"/>
              <a:t>depending</a:t>
            </a:r>
            <a:r>
              <a:rPr lang="de-DE" dirty="0"/>
              <a:t> on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condition</a:t>
            </a:r>
            <a:br>
              <a:rPr lang="de-DE" dirty="0"/>
            </a:br>
            <a:r>
              <a:rPr lang="de-DE" dirty="0"/>
              <a:t>(Tumor </a:t>
            </a:r>
            <a:r>
              <a:rPr lang="de-DE" dirty="0" err="1"/>
              <a:t>vs</a:t>
            </a:r>
            <a:r>
              <a:rPr lang="de-DE" dirty="0"/>
              <a:t> Normal, </a:t>
            </a:r>
            <a:r>
              <a:rPr lang="de-DE" dirty="0" err="1"/>
              <a:t>Treated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Untrested</a:t>
            </a:r>
            <a:r>
              <a:rPr lang="de-DE" dirty="0"/>
              <a:t>, 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Shows </a:t>
            </a:r>
            <a:r>
              <a:rPr lang="de-DE" dirty="0" err="1"/>
              <a:t>no</a:t>
            </a:r>
            <a:r>
              <a:rPr lang="de-DE" dirty="0"/>
              <a:t> genes, but </a:t>
            </a:r>
            <a:r>
              <a:rPr lang="de-DE" dirty="0" err="1"/>
              <a:t>pathways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Genes </a:t>
            </a:r>
            <a:r>
              <a:rPr lang="de-DE" dirty="0" err="1"/>
              <a:t>interact</a:t>
            </a:r>
            <a:r>
              <a:rPr lang="de-DE" dirty="0"/>
              <a:t> </a:t>
            </a:r>
            <a:r>
              <a:rPr lang="de-DE" dirty="0" err="1"/>
              <a:t>with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Gives</a:t>
            </a:r>
            <a:r>
              <a:rPr lang="de-DE" dirty="0"/>
              <a:t> </a:t>
            </a:r>
            <a:r>
              <a:rPr lang="de-DE" dirty="0" err="1"/>
              <a:t>targets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potential </a:t>
            </a:r>
            <a:r>
              <a:rPr lang="de-DE" dirty="0" err="1"/>
              <a:t>medication</a:t>
            </a:r>
            <a:r>
              <a:rPr lang="de-DE" dirty="0"/>
              <a:t>,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a </a:t>
            </a:r>
            <a:r>
              <a:rPr lang="de-DE" dirty="0" err="1"/>
              <a:t>list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drugs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downregulate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pathway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Can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start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downstream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focus</a:t>
            </a:r>
            <a:r>
              <a:rPr lang="de-DE" dirty="0"/>
              <a:t> on a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pathway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8" name="Inhaltsplatzhalter 7" descr="Ein Bild, das Text, Screenshot, Diagramm, Rechteck enthält.&#10;&#10;KI-generierte Inhalte können fehlerhaft sein.">
            <a:extLst>
              <a:ext uri="{FF2B5EF4-FFF2-40B4-BE49-F238E27FC236}">
                <a16:creationId xmlns:a16="http://schemas.microsoft.com/office/drawing/2014/main" id="{BABB08A5-116E-BBE1-B5C3-1E46A680E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13" y="1488281"/>
            <a:ext cx="5607962" cy="4679443"/>
          </a:xfrm>
        </p:spPr>
      </p:pic>
    </p:spTree>
    <p:extLst>
      <p:ext uri="{BB962C8B-B14F-4D97-AF65-F5344CB8AC3E}">
        <p14:creationId xmlns:p14="http://schemas.microsoft.com/office/powerpoint/2010/main" val="2095085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34769C-5118-98AC-DFE5-7C956415A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Pathways</a:t>
            </a:r>
            <a:r>
              <a:rPr lang="de-DE" dirty="0"/>
              <a:t> </a:t>
            </a:r>
            <a:r>
              <a:rPr lang="de-DE" dirty="0" err="1"/>
              <a:t>analysis</a:t>
            </a:r>
            <a:endParaRPr lang="de-DE" dirty="0"/>
          </a:p>
        </p:txBody>
      </p:sp>
      <p:pic>
        <p:nvPicPr>
          <p:cNvPr id="5" name="Inhaltsplatzhalter 4" descr="Ein Bild, das Text, Screenshot, parallel, Reihe enthält.&#10;&#10;KI-generierte Inhalte können fehlerhaft sein.">
            <a:extLst>
              <a:ext uri="{FF2B5EF4-FFF2-40B4-BE49-F238E27FC236}">
                <a16:creationId xmlns:a16="http://schemas.microsoft.com/office/drawing/2014/main" id="{98C99F0E-8E1B-01CC-0F70-FD99DAAB2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668" y="1621631"/>
            <a:ext cx="5704647" cy="4760119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67D51BD-7973-F09A-DA58-6A3BE7349FD5}"/>
              </a:ext>
            </a:extLst>
          </p:cNvPr>
          <p:cNvSpPr txBox="1"/>
          <p:nvPr/>
        </p:nvSpPr>
        <p:spPr>
          <a:xfrm>
            <a:off x="677334" y="1826815"/>
            <a:ext cx="393276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Different </a:t>
            </a:r>
            <a:r>
              <a:rPr lang="de-DE" dirty="0" err="1"/>
              <a:t>expression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genes </a:t>
            </a:r>
            <a:r>
              <a:rPr lang="de-DE" dirty="0" err="1"/>
              <a:t>depending</a:t>
            </a:r>
            <a:r>
              <a:rPr lang="de-DE" dirty="0"/>
              <a:t> on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condition</a:t>
            </a:r>
            <a:br>
              <a:rPr lang="de-DE" dirty="0"/>
            </a:br>
            <a:r>
              <a:rPr lang="de-DE" dirty="0"/>
              <a:t>(Tumor </a:t>
            </a:r>
            <a:r>
              <a:rPr lang="de-DE" dirty="0" err="1"/>
              <a:t>vs</a:t>
            </a:r>
            <a:r>
              <a:rPr lang="de-DE" dirty="0"/>
              <a:t> Normal, </a:t>
            </a:r>
            <a:r>
              <a:rPr lang="de-DE" dirty="0" err="1"/>
              <a:t>Treated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Untrested</a:t>
            </a:r>
            <a:r>
              <a:rPr lang="de-DE" dirty="0"/>
              <a:t>, 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Shows </a:t>
            </a:r>
            <a:r>
              <a:rPr lang="de-DE" dirty="0" err="1"/>
              <a:t>no</a:t>
            </a:r>
            <a:r>
              <a:rPr lang="de-DE" dirty="0"/>
              <a:t> genes, but </a:t>
            </a:r>
            <a:r>
              <a:rPr lang="de-DE" dirty="0" err="1"/>
              <a:t>pathways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Genes </a:t>
            </a:r>
            <a:r>
              <a:rPr lang="de-DE" dirty="0" err="1"/>
              <a:t>interact</a:t>
            </a:r>
            <a:r>
              <a:rPr lang="de-DE" dirty="0"/>
              <a:t> </a:t>
            </a:r>
            <a:r>
              <a:rPr lang="de-DE" dirty="0" err="1"/>
              <a:t>with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Gives</a:t>
            </a:r>
            <a:r>
              <a:rPr lang="de-DE" dirty="0"/>
              <a:t> </a:t>
            </a:r>
            <a:r>
              <a:rPr lang="de-DE" dirty="0" err="1"/>
              <a:t>targets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potential </a:t>
            </a:r>
            <a:r>
              <a:rPr lang="de-DE" dirty="0" err="1"/>
              <a:t>medication</a:t>
            </a:r>
            <a:r>
              <a:rPr lang="de-DE" dirty="0"/>
              <a:t>,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a </a:t>
            </a:r>
            <a:r>
              <a:rPr lang="de-DE" dirty="0" err="1"/>
              <a:t>list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drugs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downregulate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pathway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Can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start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downstream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focus</a:t>
            </a:r>
            <a:r>
              <a:rPr lang="de-DE" dirty="0"/>
              <a:t> on a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pathway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74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35072-19C6-F71F-0D90-6B6DF097D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79B836-4ACE-05FB-C614-E416A1C1E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Pathways</a:t>
            </a:r>
            <a:r>
              <a:rPr lang="de-DE" dirty="0"/>
              <a:t> </a:t>
            </a:r>
            <a:r>
              <a:rPr lang="de-DE" dirty="0" err="1"/>
              <a:t>analysis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9B5FD38-5303-8124-1793-EEECBD92E6B2}"/>
              </a:ext>
            </a:extLst>
          </p:cNvPr>
          <p:cNvSpPr txBox="1"/>
          <p:nvPr/>
        </p:nvSpPr>
        <p:spPr>
          <a:xfrm>
            <a:off x="677334" y="1826815"/>
            <a:ext cx="393276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Different </a:t>
            </a:r>
            <a:r>
              <a:rPr lang="de-DE" dirty="0" err="1"/>
              <a:t>expression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genes </a:t>
            </a:r>
            <a:r>
              <a:rPr lang="de-DE" dirty="0" err="1"/>
              <a:t>depending</a:t>
            </a:r>
            <a:r>
              <a:rPr lang="de-DE" dirty="0"/>
              <a:t> on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condition</a:t>
            </a:r>
            <a:br>
              <a:rPr lang="de-DE" dirty="0"/>
            </a:br>
            <a:r>
              <a:rPr lang="de-DE" dirty="0"/>
              <a:t>(Tumor </a:t>
            </a:r>
            <a:r>
              <a:rPr lang="de-DE" dirty="0" err="1"/>
              <a:t>vs</a:t>
            </a:r>
            <a:r>
              <a:rPr lang="de-DE" dirty="0"/>
              <a:t> Normal, </a:t>
            </a:r>
            <a:r>
              <a:rPr lang="de-DE" dirty="0" err="1"/>
              <a:t>Treated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Untrested</a:t>
            </a:r>
            <a:r>
              <a:rPr lang="de-DE" dirty="0"/>
              <a:t>, 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Shows </a:t>
            </a:r>
            <a:r>
              <a:rPr lang="de-DE" dirty="0" err="1"/>
              <a:t>no</a:t>
            </a:r>
            <a:r>
              <a:rPr lang="de-DE" dirty="0"/>
              <a:t> genes, but </a:t>
            </a:r>
            <a:r>
              <a:rPr lang="de-DE" dirty="0" err="1"/>
              <a:t>pathways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Genes </a:t>
            </a:r>
            <a:r>
              <a:rPr lang="de-DE" dirty="0" err="1"/>
              <a:t>interact</a:t>
            </a:r>
            <a:r>
              <a:rPr lang="de-DE" dirty="0"/>
              <a:t> </a:t>
            </a:r>
            <a:r>
              <a:rPr lang="de-DE" dirty="0" err="1"/>
              <a:t>with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Gives</a:t>
            </a:r>
            <a:r>
              <a:rPr lang="de-DE" dirty="0"/>
              <a:t> </a:t>
            </a:r>
            <a:r>
              <a:rPr lang="de-DE" dirty="0" err="1"/>
              <a:t>targets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potential </a:t>
            </a:r>
            <a:r>
              <a:rPr lang="de-DE" dirty="0" err="1"/>
              <a:t>medication</a:t>
            </a:r>
            <a:r>
              <a:rPr lang="de-DE" dirty="0"/>
              <a:t>,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a </a:t>
            </a:r>
            <a:r>
              <a:rPr lang="de-DE" dirty="0" err="1"/>
              <a:t>list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drugs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downregulate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pathway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Can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start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another</a:t>
            </a:r>
            <a:r>
              <a:rPr lang="de-DE" dirty="0"/>
              <a:t> </a:t>
            </a:r>
            <a:r>
              <a:rPr lang="de-DE" dirty="0" err="1"/>
              <a:t>downstream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focus</a:t>
            </a:r>
            <a:r>
              <a:rPr lang="de-DE" dirty="0"/>
              <a:t> on a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pathway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8" name="Inhaltsplatzhalter 7" descr="Ein Bild, das Text, Diagramm enthält.&#10;&#10;KI-generierte Inhalte können fehlerhaft sein.">
            <a:extLst>
              <a:ext uri="{FF2B5EF4-FFF2-40B4-BE49-F238E27FC236}">
                <a16:creationId xmlns:a16="http://schemas.microsoft.com/office/drawing/2014/main" id="{BB3C803B-4B5D-7A95-A7B5-14A443F41D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888" y="1503363"/>
            <a:ext cx="5686572" cy="4745037"/>
          </a:xfrm>
        </p:spPr>
      </p:pic>
    </p:spTree>
    <p:extLst>
      <p:ext uri="{BB962C8B-B14F-4D97-AF65-F5344CB8AC3E}">
        <p14:creationId xmlns:p14="http://schemas.microsoft.com/office/powerpoint/2010/main" val="216196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A298E-9F67-3F30-7A5A-31357094A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30B7-2A06-AA1A-734E-79DE4374A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10078490" cy="1320800"/>
          </a:xfrm>
        </p:spPr>
        <p:txBody>
          <a:bodyPr>
            <a:normAutofit/>
          </a:bodyPr>
          <a:lstStyle/>
          <a:p>
            <a:r>
              <a:rPr lang="en-GB" sz="3200" dirty="0"/>
              <a:t>Why do a Differential Gene Expression Analysis</a:t>
            </a:r>
            <a:endParaRPr lang="en-US" sz="32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1950F1-2965-831E-0BFF-F7CDDE5F9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63404"/>
            <a:ext cx="9051882" cy="448499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</a:rPr>
              <a:t>Difference in gene expression between healthy and diseased state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Differentially expressed genes (DEGs) often belong to important pathways, and insights into these changes can help to understand disease progression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Identifies potential biomarkers for diagnostics.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Finds candidate genes for drug development or for </a:t>
            </a:r>
            <a:r>
              <a:rPr lang="en-US" sz="2400" dirty="0" err="1"/>
              <a:t>resuing</a:t>
            </a:r>
            <a:r>
              <a:rPr lang="en-US" sz="2400" dirty="0"/>
              <a:t> established drugs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Can h</a:t>
            </a:r>
            <a:r>
              <a:rPr lang="en-US" sz="2400" dirty="0"/>
              <a:t>elps predict patient response to therapies.</a:t>
            </a:r>
            <a:endParaRPr lang="en-GB" sz="2400" dirty="0">
              <a:solidFill>
                <a:schemeClr val="accent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B9A260-D8F8-3BCE-D9D3-E24DBFB9F549}"/>
              </a:ext>
            </a:extLst>
          </p:cNvPr>
          <p:cNvSpPr txBox="1">
            <a:spLocks/>
          </p:cNvSpPr>
          <p:nvPr/>
        </p:nvSpPr>
        <p:spPr>
          <a:xfrm>
            <a:off x="9452347" y="6406487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2</a:t>
            </a:r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3168704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22578C-E8DF-B060-26B0-6CD9D16C5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DE" sz="2500" err="1"/>
              <a:t>What</a:t>
            </a:r>
            <a:r>
              <a:rPr lang="de-DE" sz="2500"/>
              <a:t> </a:t>
            </a:r>
            <a:r>
              <a:rPr lang="de-DE" sz="2500" err="1"/>
              <a:t>would</a:t>
            </a:r>
            <a:r>
              <a:rPr lang="de-DE" sz="2500"/>
              <a:t> </a:t>
            </a:r>
            <a:r>
              <a:rPr lang="de-DE" sz="2500" err="1"/>
              <a:t>you</a:t>
            </a:r>
            <a:r>
              <a:rPr lang="de-DE" sz="2500"/>
              <a:t> </a:t>
            </a:r>
            <a:r>
              <a:rPr lang="de-DE" sz="2500" err="1"/>
              <a:t>actually</a:t>
            </a:r>
            <a:r>
              <a:rPr lang="de-DE" sz="2500"/>
              <a:t> </a:t>
            </a:r>
            <a:r>
              <a:rPr lang="de-DE" sz="2500" err="1"/>
              <a:t>use</a:t>
            </a:r>
            <a:r>
              <a:rPr lang="de-DE" sz="2500"/>
              <a:t> a </a:t>
            </a:r>
            <a:r>
              <a:rPr lang="de-DE" sz="2500" err="1"/>
              <a:t>workflow</a:t>
            </a:r>
            <a:r>
              <a:rPr lang="de-DE" sz="2500"/>
              <a:t> like in </a:t>
            </a:r>
            <a:r>
              <a:rPr lang="de-DE" sz="2500" err="1"/>
              <a:t>the</a:t>
            </a:r>
            <a:r>
              <a:rPr lang="de-DE" sz="2500"/>
              <a:t> </a:t>
            </a:r>
            <a:r>
              <a:rPr lang="de-DE" sz="2500" err="1"/>
              <a:t>course</a:t>
            </a:r>
            <a:r>
              <a:rPr lang="de-DE" sz="2500"/>
              <a:t> </a:t>
            </a:r>
            <a:r>
              <a:rPr lang="de-DE" sz="2500" err="1"/>
              <a:t>for</a:t>
            </a:r>
            <a:r>
              <a:rPr lang="de-DE" sz="2500"/>
              <a:t>???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36D160-B2DC-DBA4-40D3-C9B95ABF0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 err="1"/>
              <a:t>Let</a:t>
            </a:r>
            <a:r>
              <a:rPr lang="de-DE"/>
              <a:t> </a:t>
            </a:r>
            <a:r>
              <a:rPr lang="de-DE" err="1"/>
              <a:t>us</a:t>
            </a:r>
            <a:r>
              <a:rPr lang="de-DE"/>
              <a:t> </a:t>
            </a:r>
            <a:r>
              <a:rPr lang="de-DE" err="1"/>
              <a:t>have</a:t>
            </a:r>
            <a:r>
              <a:rPr lang="de-DE"/>
              <a:t> a </a:t>
            </a:r>
            <a:r>
              <a:rPr lang="de-DE" err="1"/>
              <a:t>look</a:t>
            </a:r>
            <a:r>
              <a:rPr lang="de-DE"/>
              <a:t> at a (not </a:t>
            </a:r>
            <a:r>
              <a:rPr lang="de-DE" err="1"/>
              <a:t>very</a:t>
            </a:r>
            <a:r>
              <a:rPr lang="de-DE"/>
              <a:t> real but) </a:t>
            </a:r>
            <a:r>
              <a:rPr lang="de-DE" err="1"/>
              <a:t>maybe</a:t>
            </a:r>
            <a:r>
              <a:rPr lang="de-DE"/>
              <a:t> </a:t>
            </a:r>
            <a:r>
              <a:rPr lang="de-DE" err="1"/>
              <a:t>interesting</a:t>
            </a:r>
            <a:r>
              <a:rPr lang="de-DE"/>
              <a:t> </a:t>
            </a:r>
            <a:r>
              <a:rPr lang="de-DE" err="1"/>
              <a:t>example</a:t>
            </a:r>
            <a:r>
              <a:rPr lang="de-DE"/>
              <a:t>…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7BDB9CE-4783-11C7-A21B-BBFB89681B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66" r="1" b="1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3717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enutzerdefiniert 3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000000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701</Words>
  <Application>Microsoft Office PowerPoint</Application>
  <PresentationFormat>Breitbild</PresentationFormat>
  <Paragraphs>98</Paragraphs>
  <Slides>16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Trebuchet MS</vt:lpstr>
      <vt:lpstr>Wingdings 3</vt:lpstr>
      <vt:lpstr>Facet</vt:lpstr>
      <vt:lpstr>Bioinfo module WS 25/26 “Differential expression and Batch effects” </vt:lpstr>
      <vt:lpstr>RNA-Sequencing</vt:lpstr>
      <vt:lpstr>RNA-Sequencing</vt:lpstr>
      <vt:lpstr>Batch Effects and Batch Correction</vt:lpstr>
      <vt:lpstr>Batch effects and batch correction</vt:lpstr>
      <vt:lpstr>Batch Effects and Batch Correction</vt:lpstr>
      <vt:lpstr>Dimension Reduction</vt:lpstr>
      <vt:lpstr>Batch-Effects?</vt:lpstr>
      <vt:lpstr>Batch-Effects?</vt:lpstr>
      <vt:lpstr>Batch-Effects?</vt:lpstr>
      <vt:lpstr>Is Batch Correction necessary? Is it dangerous?</vt:lpstr>
      <vt:lpstr>Pathways analysis</vt:lpstr>
      <vt:lpstr>Pathways analysis</vt:lpstr>
      <vt:lpstr>Pathways analysis</vt:lpstr>
      <vt:lpstr>Why do a Differential Gene Expression Analysis</vt:lpstr>
      <vt:lpstr>What would you actually use a workflow like in the course for???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Wolter, Johannes</dc:creator>
  <cp:lastModifiedBy>Wolter, Johannes</cp:lastModifiedBy>
  <cp:revision>11</cp:revision>
  <dcterms:created xsi:type="dcterms:W3CDTF">2025-01-02T08:26:27Z</dcterms:created>
  <dcterms:modified xsi:type="dcterms:W3CDTF">2025-12-05T07:03:38Z</dcterms:modified>
</cp:coreProperties>
</file>