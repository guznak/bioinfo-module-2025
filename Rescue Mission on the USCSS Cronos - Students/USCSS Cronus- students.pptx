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90" r:id="rId4"/>
    <p:sldId id="288" r:id="rId5"/>
    <p:sldId id="291" r:id="rId6"/>
    <p:sldId id="292" r:id="rId7"/>
    <p:sldId id="293" r:id="rId8"/>
    <p:sldId id="280" r:id="rId9"/>
    <p:sldId id="294" r:id="rId10"/>
    <p:sldId id="295" r:id="rId11"/>
    <p:sldId id="296" r:id="rId12"/>
    <p:sldId id="297" r:id="rId13"/>
    <p:sldId id="298"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70" d="100"/>
          <a:sy n="70" d="100"/>
        </p:scale>
        <p:origin x="4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0039EA-107E-ED71-02FE-BFF379F1224C}"/>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355242FC-6D4B-2917-48C2-951D661A3F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97E2AA8-C5A6-B702-D840-28CAC503AB9F}"/>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5" name="Fußzeilenplatzhalter 4">
            <a:extLst>
              <a:ext uri="{FF2B5EF4-FFF2-40B4-BE49-F238E27FC236}">
                <a16:creationId xmlns:a16="http://schemas.microsoft.com/office/drawing/2014/main" id="{F0D0FF57-885C-74C7-DC21-2435E0633EF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1D08FEE-D94F-B34F-3167-628CF3AF8F2E}"/>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2457813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CC2FC2-4A81-634D-841E-53B14824FD6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E1152CB-9D1E-A225-7DC3-D53DE76BA6F2}"/>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AE3F47-6522-3F65-D002-D0E31CC26255}"/>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5" name="Fußzeilenplatzhalter 4">
            <a:extLst>
              <a:ext uri="{FF2B5EF4-FFF2-40B4-BE49-F238E27FC236}">
                <a16:creationId xmlns:a16="http://schemas.microsoft.com/office/drawing/2014/main" id="{C0CA634A-501E-05CF-2583-D72D98CE15E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4A0FC66-A181-8C21-1FC9-E8E0BC5E7A68}"/>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291365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DD8341-592A-5D1D-8385-745109390475}"/>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B06BF548-9B22-1891-75FA-34126968A5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B8D9A9DB-9E68-AB0E-4E5E-3CE657B2B8D9}"/>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5" name="Fußzeilenplatzhalter 4">
            <a:extLst>
              <a:ext uri="{FF2B5EF4-FFF2-40B4-BE49-F238E27FC236}">
                <a16:creationId xmlns:a16="http://schemas.microsoft.com/office/drawing/2014/main" id="{5F5079AF-5CDA-52C4-AF78-66928BBF6B8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46783E5-CABC-EF0C-46BB-59E80103E1B6}"/>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1599170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989D5E-AEBD-6B91-9EF4-0F84294F93A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BAC76EDC-9D33-BAD6-4B15-C197F8FD99E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B003C0E7-BBD2-F970-C7CE-B68A3D6D9869}"/>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70EC6CC5-5966-9361-EAA8-1EB73554F031}"/>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6" name="Fußzeilenplatzhalter 5">
            <a:extLst>
              <a:ext uri="{FF2B5EF4-FFF2-40B4-BE49-F238E27FC236}">
                <a16:creationId xmlns:a16="http://schemas.microsoft.com/office/drawing/2014/main" id="{CE0CA500-110D-4195-6E3F-6FDC0C25CB5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F069B95-D743-95C2-B7D2-461D65D3E3DF}"/>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3243608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EC73BA-8ED1-97CB-B050-FD207E18A370}"/>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BF4333B-7C51-D97A-628D-7B5BCA1ED6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D4BFBA9B-A227-7CCF-24BC-3EA84F6AF887}"/>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DFE1B471-3026-E21C-AAC6-F94A8C3137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360B2650-72B6-922F-1D81-846BAEFF7191}"/>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D5C5D5E6-D724-A9F5-C367-DB17DD3096CC}"/>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8" name="Fußzeilenplatzhalter 7">
            <a:extLst>
              <a:ext uri="{FF2B5EF4-FFF2-40B4-BE49-F238E27FC236}">
                <a16:creationId xmlns:a16="http://schemas.microsoft.com/office/drawing/2014/main" id="{3488DD09-4620-4A3B-F808-94AA68716901}"/>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37DF075D-1043-876B-4EE0-250559FD68CD}"/>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241137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6D658A-966D-9E87-2D61-56E01DCE8E1C}"/>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FB94CC0-DED8-7C7D-74FE-5BFE19A5CE28}"/>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4" name="Fußzeilenplatzhalter 3">
            <a:extLst>
              <a:ext uri="{FF2B5EF4-FFF2-40B4-BE49-F238E27FC236}">
                <a16:creationId xmlns:a16="http://schemas.microsoft.com/office/drawing/2014/main" id="{49059B86-BCFC-752B-FEA4-4AF16703AA66}"/>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5E6DD3B-9E76-1B33-B380-699CCE876735}"/>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1213024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18BF35F-34C7-FFDF-F484-B8B5AFECCF54}"/>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3" name="Fußzeilenplatzhalter 2">
            <a:extLst>
              <a:ext uri="{FF2B5EF4-FFF2-40B4-BE49-F238E27FC236}">
                <a16:creationId xmlns:a16="http://schemas.microsoft.com/office/drawing/2014/main" id="{3D2F0183-59C8-2590-B8A8-F0D9EC7EA0EB}"/>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5994334-D79F-1066-0A88-BB9BD5E82EBB}"/>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204308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E47313-4BA1-C73F-11BF-F4EA99769B2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67E6FDB9-379D-90A7-8B4C-AB36D3834E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468F1F91-4F00-4590-1535-DCEA6EAA4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8B73133-9A05-F7C5-6C3F-B32BECC3C09A}"/>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6" name="Fußzeilenplatzhalter 5">
            <a:extLst>
              <a:ext uri="{FF2B5EF4-FFF2-40B4-BE49-F238E27FC236}">
                <a16:creationId xmlns:a16="http://schemas.microsoft.com/office/drawing/2014/main" id="{3AA92B27-D0E4-1CF2-7FC7-808FB5061D7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3853709-77CD-13B4-07FF-707959EA9492}"/>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536427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C31950-78AD-5DD7-C318-34CCC45D078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3830B8F-B7EE-0219-BBF6-B0B5FB721A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586BB85-510A-7E88-0393-3941D1242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C7D2211-4BCE-DA4B-728D-3A004AA1060E}"/>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6" name="Fußzeilenplatzhalter 5">
            <a:extLst>
              <a:ext uri="{FF2B5EF4-FFF2-40B4-BE49-F238E27FC236}">
                <a16:creationId xmlns:a16="http://schemas.microsoft.com/office/drawing/2014/main" id="{724D601C-0B01-F6E0-424B-E5DCF468C91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D56F7EC-EAC4-25A3-EE10-0A531E29A6BD}"/>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1784564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E6A0C-FF10-BAE9-F4A4-5D328677A08D}"/>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A42D6919-1945-1B4B-57E6-54A30337EDB0}"/>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C365FBA-4F74-9F7F-E180-DEE48DC67A75}"/>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5" name="Fußzeilenplatzhalter 4">
            <a:extLst>
              <a:ext uri="{FF2B5EF4-FFF2-40B4-BE49-F238E27FC236}">
                <a16:creationId xmlns:a16="http://schemas.microsoft.com/office/drawing/2014/main" id="{3EDB0D5C-D106-F67F-75F9-38EA9581950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2BED49C-445D-DA7A-50D8-AD519104668E}"/>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2092643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11664EF3-4F8C-C631-3F80-B7515D864C5D}"/>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08FA30BF-EC1E-C919-0B98-548B517F603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129F6C9-1BBE-8B42-FE65-F31E7AA9621A}"/>
              </a:ext>
            </a:extLst>
          </p:cNvPr>
          <p:cNvSpPr>
            <a:spLocks noGrp="1"/>
          </p:cNvSpPr>
          <p:nvPr>
            <p:ph type="dt" sz="half" idx="10"/>
          </p:nvPr>
        </p:nvSpPr>
        <p:spPr/>
        <p:txBody>
          <a:bodyPr/>
          <a:lstStyle/>
          <a:p>
            <a:fld id="{4BFE7F9D-1F07-448A-BEC6-76234B0172A8}" type="datetimeFigureOut">
              <a:rPr lang="de-DE" smtClean="0"/>
              <a:t>16.03.2026</a:t>
            </a:fld>
            <a:endParaRPr lang="de-DE"/>
          </a:p>
        </p:txBody>
      </p:sp>
      <p:sp>
        <p:nvSpPr>
          <p:cNvPr id="5" name="Fußzeilenplatzhalter 4">
            <a:extLst>
              <a:ext uri="{FF2B5EF4-FFF2-40B4-BE49-F238E27FC236}">
                <a16:creationId xmlns:a16="http://schemas.microsoft.com/office/drawing/2014/main" id="{262C4C18-BBC8-4383-74F6-18396F7168B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5C97BA1-1752-2ECB-A7D0-EE2825E7F996}"/>
              </a:ext>
            </a:extLst>
          </p:cNvPr>
          <p:cNvSpPr>
            <a:spLocks noGrp="1"/>
          </p:cNvSpPr>
          <p:nvPr>
            <p:ph type="sldNum" sz="quarter" idx="12"/>
          </p:nvPr>
        </p:nvSpPr>
        <p:spPr/>
        <p:txBody>
          <a:bodyPr/>
          <a:lstStyle/>
          <a:p>
            <a:fld id="{5529E78F-D63E-44B9-83F1-E7D8CAC76A26}" type="slidenum">
              <a:rPr lang="de-DE" smtClean="0"/>
              <a:t>‹Nr.›</a:t>
            </a:fld>
            <a:endParaRPr lang="de-DE"/>
          </a:p>
        </p:txBody>
      </p:sp>
    </p:spTree>
    <p:extLst>
      <p:ext uri="{BB962C8B-B14F-4D97-AF65-F5344CB8AC3E}">
        <p14:creationId xmlns:p14="http://schemas.microsoft.com/office/powerpoint/2010/main" val="2378100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E375C49-D90B-5198-1860-65E4143A63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6DA7B708-FA2D-6899-E8CC-AAF8818656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41732DA-4F7F-47A0-2FEC-A663DCBECD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FE7F9D-1F07-448A-BEC6-76234B0172A8}" type="datetimeFigureOut">
              <a:rPr lang="de-DE" smtClean="0"/>
              <a:t>16.03.2026</a:t>
            </a:fld>
            <a:endParaRPr lang="de-DE"/>
          </a:p>
        </p:txBody>
      </p:sp>
      <p:sp>
        <p:nvSpPr>
          <p:cNvPr id="5" name="Fußzeilenplatzhalter 4">
            <a:extLst>
              <a:ext uri="{FF2B5EF4-FFF2-40B4-BE49-F238E27FC236}">
                <a16:creationId xmlns:a16="http://schemas.microsoft.com/office/drawing/2014/main" id="{6CA451EF-AE1C-2134-FAB0-F9E68EC1FD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DE1B04E1-EEA7-7D4E-FA53-79A4F17753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29E78F-D63E-44B9-83F1-E7D8CAC76A26}" type="slidenum">
              <a:rPr lang="de-DE" smtClean="0"/>
              <a:t>‹Nr.›</a:t>
            </a:fld>
            <a:endParaRPr lang="de-DE"/>
          </a:p>
        </p:txBody>
      </p:sp>
    </p:spTree>
    <p:extLst>
      <p:ext uri="{BB962C8B-B14F-4D97-AF65-F5344CB8AC3E}">
        <p14:creationId xmlns:p14="http://schemas.microsoft.com/office/powerpoint/2010/main" val="1873466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2E15EF9F-406E-3C4B-4458-C149D126EFF1}"/>
              </a:ext>
            </a:extLst>
          </p:cNvPr>
          <p:cNvSpPr>
            <a:spLocks noGrp="1"/>
          </p:cNvSpPr>
          <p:nvPr>
            <p:ph type="subTitle" idx="1"/>
          </p:nvPr>
        </p:nvSpPr>
        <p:spPr/>
        <p:txBody>
          <a:bodyPr/>
          <a:lstStyle/>
          <a:p>
            <a:endParaRPr lang="de-DE"/>
          </a:p>
        </p:txBody>
      </p:sp>
      <p:sp>
        <p:nvSpPr>
          <p:cNvPr id="4" name="AutoShape 2">
            <a:extLst>
              <a:ext uri="{FF2B5EF4-FFF2-40B4-BE49-F238E27FC236}">
                <a16:creationId xmlns:a16="http://schemas.microsoft.com/office/drawing/2014/main" id="{9EF67F2F-39B9-FF07-5AC3-B3F4E61FC214}"/>
              </a:ext>
            </a:extLst>
          </p:cNvPr>
          <p:cNvSpPr>
            <a:spLocks noGrp="1" noChangeAspect="1" noChangeArrowheads="1"/>
          </p:cNvSpPr>
          <p:nvPr>
            <p:ph type="ctr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dirty="0"/>
          </a:p>
        </p:txBody>
      </p:sp>
      <p:pic>
        <p:nvPicPr>
          <p:cNvPr id="5" name="Grafik 4">
            <a:extLst>
              <a:ext uri="{FF2B5EF4-FFF2-40B4-BE49-F238E27FC236}">
                <a16:creationId xmlns:a16="http://schemas.microsoft.com/office/drawing/2014/main" id="{FF5CCCED-DAF8-A11D-BDE6-53009D3BE1B5}"/>
              </a:ext>
            </a:extLst>
          </p:cNvPr>
          <p:cNvPicPr>
            <a:picLocks noChangeAspect="1"/>
          </p:cNvPicPr>
          <p:nvPr/>
        </p:nvPicPr>
        <p:blipFill>
          <a:blip r:embed="rId2"/>
          <a:stretch>
            <a:fillRect/>
          </a:stretch>
        </p:blipFill>
        <p:spPr>
          <a:xfrm>
            <a:off x="799450" y="0"/>
            <a:ext cx="10593099" cy="6858000"/>
          </a:xfrm>
          <a:prstGeom prst="rect">
            <a:avLst/>
          </a:prstGeom>
        </p:spPr>
      </p:pic>
      <p:sp>
        <p:nvSpPr>
          <p:cNvPr id="6" name="Textfeld 5">
            <a:extLst>
              <a:ext uri="{FF2B5EF4-FFF2-40B4-BE49-F238E27FC236}">
                <a16:creationId xmlns:a16="http://schemas.microsoft.com/office/drawing/2014/main" id="{2826101A-69B9-CB82-C437-86801B4BF476}"/>
              </a:ext>
            </a:extLst>
          </p:cNvPr>
          <p:cNvSpPr txBox="1"/>
          <p:nvPr/>
        </p:nvSpPr>
        <p:spPr>
          <a:xfrm>
            <a:off x="649687" y="5350916"/>
            <a:ext cx="8132363" cy="769441"/>
          </a:xfrm>
          <a:prstGeom prst="rect">
            <a:avLst/>
          </a:prstGeom>
          <a:noFill/>
        </p:spPr>
        <p:txBody>
          <a:bodyPr wrap="square" rtlCol="0">
            <a:spAutoFit/>
          </a:bodyPr>
          <a:lstStyle/>
          <a:p>
            <a:r>
              <a:rPr lang="de-DE" sz="4400" dirty="0" err="1">
                <a:solidFill>
                  <a:schemeClr val="bg1"/>
                </a:solidFill>
              </a:rPr>
              <a:t>Saving</a:t>
            </a:r>
            <a:r>
              <a:rPr lang="de-DE" sz="4400" dirty="0">
                <a:solidFill>
                  <a:schemeClr val="bg1"/>
                </a:solidFill>
              </a:rPr>
              <a:t> </a:t>
            </a:r>
            <a:r>
              <a:rPr lang="de-DE" sz="4400" dirty="0" err="1">
                <a:solidFill>
                  <a:schemeClr val="bg1"/>
                </a:solidFill>
              </a:rPr>
              <a:t>the</a:t>
            </a:r>
            <a:r>
              <a:rPr lang="de-DE" sz="4400" dirty="0">
                <a:solidFill>
                  <a:schemeClr val="bg1"/>
                </a:solidFill>
              </a:rPr>
              <a:t> USCSS </a:t>
            </a:r>
            <a:r>
              <a:rPr lang="de-DE" sz="4400" dirty="0" err="1">
                <a:solidFill>
                  <a:schemeClr val="bg1"/>
                </a:solidFill>
              </a:rPr>
              <a:t>Chronus</a:t>
            </a:r>
            <a:endParaRPr lang="de-DE" sz="4400" dirty="0">
              <a:solidFill>
                <a:schemeClr val="bg1"/>
              </a:solidFill>
            </a:endParaRPr>
          </a:p>
        </p:txBody>
      </p:sp>
    </p:spTree>
    <p:extLst>
      <p:ext uri="{BB962C8B-B14F-4D97-AF65-F5344CB8AC3E}">
        <p14:creationId xmlns:p14="http://schemas.microsoft.com/office/powerpoint/2010/main" val="246770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F944B-3F01-111D-7D4B-86732AB6A2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9E6E9C8-0EE6-0136-310F-B9F4FE4B033E}"/>
              </a:ext>
            </a:extLst>
          </p:cNvPr>
          <p:cNvSpPr>
            <a:spLocks noGrp="1"/>
          </p:cNvSpPr>
          <p:nvPr>
            <p:ph type="title"/>
          </p:nvPr>
        </p:nvSpPr>
        <p:spPr/>
        <p:txBody>
          <a:bodyPr/>
          <a:lstStyle/>
          <a:p>
            <a:endParaRPr lang="de-DE"/>
          </a:p>
        </p:txBody>
      </p:sp>
      <p:pic>
        <p:nvPicPr>
          <p:cNvPr id="4" name="Inhaltsplatzhalter 3">
            <a:extLst>
              <a:ext uri="{FF2B5EF4-FFF2-40B4-BE49-F238E27FC236}">
                <a16:creationId xmlns:a16="http://schemas.microsoft.com/office/drawing/2014/main" id="{B679B647-973A-D32B-D6BE-ABD6766121C4}"/>
              </a:ext>
            </a:extLst>
          </p:cNvPr>
          <p:cNvPicPr>
            <a:picLocks noGrp="1" noChangeAspect="1"/>
          </p:cNvPicPr>
          <p:nvPr>
            <p:ph idx="1"/>
          </p:nvPr>
        </p:nvPicPr>
        <p:blipFill>
          <a:blip r:embed="rId2"/>
          <a:srcRect l="6818" r="50872" b="25769"/>
          <a:stretch>
            <a:fillRect/>
          </a:stretch>
        </p:blipFill>
        <p:spPr>
          <a:xfrm>
            <a:off x="92246" y="25657"/>
            <a:ext cx="3611362" cy="6847115"/>
          </a:xfrm>
          <a:prstGeom prst="rect">
            <a:avLst/>
          </a:prstGeom>
        </p:spPr>
      </p:pic>
      <p:pic>
        <p:nvPicPr>
          <p:cNvPr id="5" name="Inhaltsplatzhalter 3">
            <a:extLst>
              <a:ext uri="{FF2B5EF4-FFF2-40B4-BE49-F238E27FC236}">
                <a16:creationId xmlns:a16="http://schemas.microsoft.com/office/drawing/2014/main" id="{5ECC0E9B-6141-C0E0-72FA-9A22B323EB82}"/>
              </a:ext>
            </a:extLst>
          </p:cNvPr>
          <p:cNvPicPr>
            <a:picLocks noChangeAspect="1"/>
          </p:cNvPicPr>
          <p:nvPr/>
        </p:nvPicPr>
        <p:blipFill>
          <a:blip r:embed="rId2"/>
          <a:srcRect l="53234" t="11485" r="5039" b="38106"/>
          <a:stretch>
            <a:fillRect/>
          </a:stretch>
        </p:blipFill>
        <p:spPr>
          <a:xfrm>
            <a:off x="3861582" y="902676"/>
            <a:ext cx="4065850" cy="5308210"/>
          </a:xfrm>
          <a:prstGeom prst="rect">
            <a:avLst/>
          </a:prstGeom>
        </p:spPr>
      </p:pic>
      <p:pic>
        <p:nvPicPr>
          <p:cNvPr id="6" name="Inhaltsplatzhalter 3">
            <a:extLst>
              <a:ext uri="{FF2B5EF4-FFF2-40B4-BE49-F238E27FC236}">
                <a16:creationId xmlns:a16="http://schemas.microsoft.com/office/drawing/2014/main" id="{31EE9F66-4E91-0243-CDD7-C89293538CF8}"/>
              </a:ext>
            </a:extLst>
          </p:cNvPr>
          <p:cNvPicPr>
            <a:picLocks noChangeAspect="1"/>
          </p:cNvPicPr>
          <p:nvPr/>
        </p:nvPicPr>
        <p:blipFill>
          <a:blip r:embed="rId2"/>
          <a:srcRect l="55169" t="61020" r="5040" b="3482"/>
          <a:stretch>
            <a:fillRect/>
          </a:stretch>
        </p:blipFill>
        <p:spPr>
          <a:xfrm>
            <a:off x="7984724" y="1491198"/>
            <a:ext cx="4019856" cy="3875604"/>
          </a:xfrm>
          <a:prstGeom prst="rect">
            <a:avLst/>
          </a:prstGeom>
        </p:spPr>
      </p:pic>
    </p:spTree>
    <p:extLst>
      <p:ext uri="{BB962C8B-B14F-4D97-AF65-F5344CB8AC3E}">
        <p14:creationId xmlns:p14="http://schemas.microsoft.com/office/powerpoint/2010/main" val="191673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BC23A2F7-3D27-4B6F-765F-DD878792D0ED}"/>
              </a:ext>
            </a:extLst>
          </p:cNvPr>
          <p:cNvSpPr txBox="1"/>
          <p:nvPr/>
        </p:nvSpPr>
        <p:spPr>
          <a:xfrm>
            <a:off x="124326" y="268446"/>
            <a:ext cx="5847348" cy="5909310"/>
          </a:xfrm>
          <a:prstGeom prst="rect">
            <a:avLst/>
          </a:prstGeom>
          <a:noFill/>
        </p:spPr>
        <p:txBody>
          <a:bodyPr wrap="square">
            <a:spAutoFit/>
          </a:bodyPr>
          <a:lstStyle/>
          <a:p>
            <a:pPr>
              <a:buNone/>
            </a:pPr>
            <a:r>
              <a:rPr lang="en-US" sz="1400" b="1" dirty="0"/>
              <a:t>Dominion Among the Stars</a:t>
            </a:r>
          </a:p>
          <a:p>
            <a:pPr>
              <a:buNone/>
            </a:pPr>
            <a:r>
              <a:rPr lang="en-US" sz="1400" dirty="0"/>
              <a:t>While the colonies are formally governed by their own administrations, they are far from the only forces shaping life beyond Earth.</a:t>
            </a:r>
          </a:p>
          <a:p>
            <a:pPr>
              <a:buNone/>
            </a:pPr>
            <a:r>
              <a:rPr lang="en-US" sz="1400" b="1" dirty="0"/>
              <a:t>Corporate Supremacy</a:t>
            </a:r>
          </a:p>
          <a:p>
            <a:pPr>
              <a:buNone/>
            </a:pPr>
            <a:r>
              <a:rPr lang="en-US" sz="1400" dirty="0"/>
              <a:t>Although the nation-states claim dominion over the stars, true power lies in the hands of the corporations. Companies such as </a:t>
            </a:r>
            <a:r>
              <a:rPr lang="en-US" sz="1400" b="1" dirty="0"/>
              <a:t>Weyland-Yutani</a:t>
            </a:r>
            <a:r>
              <a:rPr lang="en-US" sz="1400" dirty="0"/>
              <a:t>, </a:t>
            </a:r>
            <a:r>
              <a:rPr lang="en-US" sz="1400" b="1" dirty="0" err="1"/>
              <a:t>BioNational</a:t>
            </a:r>
            <a:r>
              <a:rPr lang="en-US" sz="1400" dirty="0"/>
              <a:t>, and </a:t>
            </a:r>
            <a:r>
              <a:rPr lang="en-US" sz="1400" b="1" dirty="0" err="1"/>
              <a:t>Seegson</a:t>
            </a:r>
            <a:r>
              <a:rPr lang="en-US" sz="1400" dirty="0"/>
              <a:t> operate far beyond the borders of stellar territories. They produce, control, and safeguard the very technologies required for interstellar expansion and survival.</a:t>
            </a:r>
          </a:p>
          <a:p>
            <a:pPr>
              <a:buNone/>
            </a:pPr>
            <a:r>
              <a:rPr lang="en-US" sz="1400" dirty="0"/>
              <a:t>Nations like the </a:t>
            </a:r>
            <a:r>
              <a:rPr lang="en-US" sz="1400" b="1" dirty="0"/>
              <a:t>UPP</a:t>
            </a:r>
            <a:r>
              <a:rPr lang="en-US" sz="1400" dirty="0"/>
              <a:t>, who refuse to cooperate with the private sector, have paid a heavy price for this stance. Their rejection of corporate collaboration has left them significantly behind in the race for control of space.</a:t>
            </a:r>
          </a:p>
          <a:p>
            <a:pPr>
              <a:buNone/>
            </a:pPr>
            <a:endParaRPr lang="en-US" sz="1400" dirty="0"/>
          </a:p>
          <a:p>
            <a:pPr>
              <a:buNone/>
            </a:pPr>
            <a:r>
              <a:rPr lang="en-US" sz="1400" b="1" dirty="0"/>
              <a:t>God in the Depths of Space</a:t>
            </a:r>
          </a:p>
          <a:p>
            <a:pPr>
              <a:buNone/>
            </a:pPr>
            <a:r>
              <a:rPr lang="en-US" sz="1400" dirty="0"/>
              <a:t>Life in the colonies is harsh. Many settlers were drawn to the frontier by promises of utopian opportunity, only to find exhausting labor, deprivation, and isolation.</a:t>
            </a:r>
          </a:p>
          <a:p>
            <a:pPr>
              <a:buNone/>
            </a:pPr>
            <a:r>
              <a:rPr lang="en-US" sz="1400" dirty="0"/>
              <a:t>As a result, some colonists turned to faith in search of relief from their daily hardships. While traditional religions persist throughout the colonies, isolated regions have also given rise to extremist sects and fanatical cults. These groups are often led by charismatic figures and driven by apocalyptic beliefs.</a:t>
            </a:r>
          </a:p>
          <a:p>
            <a:pPr>
              <a:buNone/>
            </a:pPr>
            <a:r>
              <a:rPr lang="en-US" sz="1400" dirty="0"/>
              <a:t>In recent years, numerous organizations with questionable goals and methods have emerged—ranging from practitioners of so-called </a:t>
            </a:r>
            <a:r>
              <a:rPr lang="en-US" sz="1400" i="1" dirty="0"/>
              <a:t>holy sacrifice</a:t>
            </a:r>
            <a:r>
              <a:rPr lang="en-US" sz="1400" dirty="0"/>
              <a:t> to cult-like movements such as the </a:t>
            </a:r>
            <a:r>
              <a:rPr lang="en-US" sz="1400" b="1" dirty="0"/>
              <a:t>Church of the Immaculate Incubation</a:t>
            </a:r>
            <a:r>
              <a:rPr lang="en-US" sz="1400" dirty="0"/>
              <a:t>.</a:t>
            </a:r>
          </a:p>
        </p:txBody>
      </p:sp>
      <p:sp>
        <p:nvSpPr>
          <p:cNvPr id="7" name="Textfeld 6">
            <a:extLst>
              <a:ext uri="{FF2B5EF4-FFF2-40B4-BE49-F238E27FC236}">
                <a16:creationId xmlns:a16="http://schemas.microsoft.com/office/drawing/2014/main" id="{C502AE6C-DC84-4C9E-F3E5-B1B4AD7F568B}"/>
              </a:ext>
            </a:extLst>
          </p:cNvPr>
          <p:cNvSpPr txBox="1"/>
          <p:nvPr/>
        </p:nvSpPr>
        <p:spPr>
          <a:xfrm>
            <a:off x="5909510" y="268446"/>
            <a:ext cx="6158163" cy="3539430"/>
          </a:xfrm>
          <a:prstGeom prst="rect">
            <a:avLst/>
          </a:prstGeom>
          <a:noFill/>
        </p:spPr>
        <p:txBody>
          <a:bodyPr wrap="square">
            <a:spAutoFit/>
          </a:bodyPr>
          <a:lstStyle/>
          <a:p>
            <a:pPr>
              <a:buNone/>
            </a:pPr>
            <a:r>
              <a:rPr lang="en-US" sz="1400" b="1" dirty="0"/>
              <a:t>What the Rumor Mill Says</a:t>
            </a:r>
          </a:p>
          <a:p>
            <a:pPr>
              <a:buNone/>
            </a:pPr>
            <a:r>
              <a:rPr lang="en-US" sz="1400" dirty="0"/>
              <a:t>In the frontier, rumors spread faster than light. Scouts speak of priceless artifacts hidden within ancient ruins on distant moons — ruins that had already crumbled to dust long before humanity ever walked among the stars. Others whisper of derelict spacecraft and a strange race of giants who once traveled effortlessly between the suns.</a:t>
            </a:r>
          </a:p>
          <a:p>
            <a:pPr>
              <a:buNone/>
            </a:pPr>
            <a:r>
              <a:rPr lang="en-US" sz="1400" dirty="0"/>
              <a:t>Still others, behind closed doors and lowered voices, speak of a hostile lifeform — something that burns entire worlds, a parasitic entity that defies comprehension and lies beyond the limits of human imagination.</a:t>
            </a:r>
          </a:p>
          <a:p>
            <a:pPr>
              <a:buNone/>
            </a:pPr>
            <a:r>
              <a:rPr lang="en-US" sz="1400" dirty="0"/>
              <a:t>Many believe that </a:t>
            </a:r>
            <a:r>
              <a:rPr lang="en-US" sz="1400" b="1" dirty="0"/>
              <a:t>Weyland-Yutani</a:t>
            </a:r>
            <a:r>
              <a:rPr lang="en-US" sz="1400" dirty="0"/>
              <a:t> and other </a:t>
            </a:r>
            <a:r>
              <a:rPr lang="en-US" sz="1400" dirty="0" err="1"/>
              <a:t>megacorporations</a:t>
            </a:r>
            <a:r>
              <a:rPr lang="en-US" sz="1400" dirty="0"/>
              <a:t> are secretly developing new and highly dangerous bioweapons: viruses capable of unleashing planetary plagues, drug-controlled psychopathic cyborgs, and even genetically engineered monstrosities. If such weapons are truly being researched, the obvious question follows: </a:t>
            </a:r>
            <a:r>
              <a:rPr lang="en-US" sz="1400" i="1" dirty="0"/>
              <a:t>for whom</a:t>
            </a:r>
            <a:r>
              <a:rPr lang="en-US" sz="1400" dirty="0"/>
              <a:t> are they being designed — and is a new war already looming on the horizon in which they will be unleashed?</a:t>
            </a:r>
          </a:p>
        </p:txBody>
      </p:sp>
      <p:sp>
        <p:nvSpPr>
          <p:cNvPr id="9" name="Textfeld 8">
            <a:extLst>
              <a:ext uri="{FF2B5EF4-FFF2-40B4-BE49-F238E27FC236}">
                <a16:creationId xmlns:a16="http://schemas.microsoft.com/office/drawing/2014/main" id="{F7C6B0EF-7EDF-DD42-1C3C-9D4705734AFC}"/>
              </a:ext>
            </a:extLst>
          </p:cNvPr>
          <p:cNvSpPr txBox="1"/>
          <p:nvPr/>
        </p:nvSpPr>
        <p:spPr>
          <a:xfrm>
            <a:off x="5909510" y="3749457"/>
            <a:ext cx="6096000" cy="3108543"/>
          </a:xfrm>
          <a:prstGeom prst="rect">
            <a:avLst/>
          </a:prstGeom>
          <a:noFill/>
        </p:spPr>
        <p:txBody>
          <a:bodyPr wrap="square">
            <a:spAutoFit/>
          </a:bodyPr>
          <a:lstStyle/>
          <a:p>
            <a:pPr algn="just">
              <a:buNone/>
            </a:pPr>
            <a:r>
              <a:rPr lang="en-US" sz="1400" b="1" dirty="0"/>
              <a:t>A Century of Disappearances</a:t>
            </a:r>
          </a:p>
          <a:p>
            <a:pPr algn="just">
              <a:buNone/>
            </a:pPr>
            <a:r>
              <a:rPr lang="en-US" sz="1400" dirty="0"/>
              <a:t>Over the past century, ships, stations, and even entire colonies have vanished from the frontier. Some attribute these losses to natural disasters or overwhelming force. Others believe the victims fell prey to pirates or hostile governments.</a:t>
            </a:r>
          </a:p>
          <a:p>
            <a:pPr algn="just">
              <a:buNone/>
            </a:pPr>
            <a:r>
              <a:rPr lang="en-US" sz="1400" dirty="0"/>
              <a:t>Naturally, darker rumors persist — tales of mysterious diseases wiping out populations, or colonies erased by atomic weapons. As a result, tension in the frontier is razor-thin. Some settlers have come to believe that humanity should never have left Earth, and that the void will ultimately consume our species in its entirety.</a:t>
            </a:r>
          </a:p>
          <a:p>
            <a:pPr algn="just">
              <a:buNone/>
            </a:pPr>
            <a:r>
              <a:rPr lang="en-US" sz="1400" dirty="0"/>
              <a:t>Seal the blast shutters. Lock the airlocks.</a:t>
            </a:r>
          </a:p>
          <a:p>
            <a:pPr algn="just">
              <a:buNone/>
            </a:pPr>
            <a:r>
              <a:rPr lang="en-US" sz="1400" dirty="0"/>
              <a:t>Something alien may be lurking in the impenetrable darkness beyond — hungry, and dangerous…</a:t>
            </a:r>
          </a:p>
          <a:p>
            <a:pPr algn="just">
              <a:buNone/>
            </a:pPr>
            <a:r>
              <a:rPr lang="en-US" sz="1400" b="1" dirty="0"/>
              <a:t>It is waiting for you.</a:t>
            </a:r>
            <a:endParaRPr lang="en-US" sz="1400" dirty="0"/>
          </a:p>
        </p:txBody>
      </p:sp>
    </p:spTree>
    <p:extLst>
      <p:ext uri="{BB962C8B-B14F-4D97-AF65-F5344CB8AC3E}">
        <p14:creationId xmlns:p14="http://schemas.microsoft.com/office/powerpoint/2010/main" val="3726627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D16927D-058F-6F5E-73AA-3FA2A5639BDA}"/>
              </a:ext>
            </a:extLst>
          </p:cNvPr>
          <p:cNvPicPr>
            <a:picLocks noChangeAspect="1"/>
          </p:cNvPicPr>
          <p:nvPr/>
        </p:nvPicPr>
        <p:blipFill>
          <a:blip r:embed="rId2"/>
          <a:stretch>
            <a:fillRect/>
          </a:stretch>
        </p:blipFill>
        <p:spPr>
          <a:xfrm>
            <a:off x="3441975" y="0"/>
            <a:ext cx="5308050" cy="6858000"/>
          </a:xfrm>
          <a:prstGeom prst="rect">
            <a:avLst/>
          </a:prstGeom>
        </p:spPr>
      </p:pic>
    </p:spTree>
    <p:extLst>
      <p:ext uri="{BB962C8B-B14F-4D97-AF65-F5344CB8AC3E}">
        <p14:creationId xmlns:p14="http://schemas.microsoft.com/office/powerpoint/2010/main" val="3228068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59DFDD-77D2-30D3-0762-1BC98CC55F2C}"/>
              </a:ext>
            </a:extLst>
          </p:cNvPr>
          <p:cNvSpPr>
            <a:spLocks noGrp="1"/>
          </p:cNvSpPr>
          <p:nvPr>
            <p:ph type="title"/>
          </p:nvPr>
        </p:nvSpPr>
        <p:spPr/>
        <p:txBody>
          <a:bodyPr/>
          <a:lstStyle/>
          <a:p>
            <a:r>
              <a:rPr lang="en-US" dirty="0"/>
              <a:t>“A Recovery Mission Is Mandatory Under Corporate Policy”</a:t>
            </a:r>
            <a:endParaRPr lang="de-DE" dirty="0"/>
          </a:p>
        </p:txBody>
      </p:sp>
      <p:sp>
        <p:nvSpPr>
          <p:cNvPr id="3" name="Inhaltsplatzhalter 2">
            <a:extLst>
              <a:ext uri="{FF2B5EF4-FFF2-40B4-BE49-F238E27FC236}">
                <a16:creationId xmlns:a16="http://schemas.microsoft.com/office/drawing/2014/main" id="{FEBE00AA-F004-9CE2-E4E2-988E7E3034E3}"/>
              </a:ext>
            </a:extLst>
          </p:cNvPr>
          <p:cNvSpPr>
            <a:spLocks noGrp="1"/>
          </p:cNvSpPr>
          <p:nvPr>
            <p:ph idx="1"/>
          </p:nvPr>
        </p:nvSpPr>
        <p:spPr/>
        <p:txBody>
          <a:bodyPr/>
          <a:lstStyle/>
          <a:p>
            <a:r>
              <a:rPr lang="en-US" dirty="0"/>
              <a:t>Mission priorities are as follows:</a:t>
            </a:r>
          </a:p>
          <a:p>
            <a:r>
              <a:rPr lang="en-US" dirty="0"/>
              <a:t>Recover all scientific data and biological samples from the USCSS </a:t>
            </a:r>
            <a:r>
              <a:rPr lang="en-US" i="1" dirty="0"/>
              <a:t>Cronus</a:t>
            </a:r>
            <a:r>
              <a:rPr lang="en-US" dirty="0"/>
              <a:t>.</a:t>
            </a:r>
          </a:p>
          <a:p>
            <a:r>
              <a:rPr lang="en-US" dirty="0"/>
              <a:t>Transport the </a:t>
            </a:r>
            <a:r>
              <a:rPr lang="en-US" i="1" dirty="0"/>
              <a:t>Cronus</a:t>
            </a:r>
            <a:r>
              <a:rPr lang="en-US" dirty="0"/>
              <a:t> to </a:t>
            </a:r>
            <a:r>
              <a:rPr lang="en-US" dirty="0" err="1"/>
              <a:t>Anchorhead</a:t>
            </a:r>
            <a:r>
              <a:rPr lang="en-US" dirty="0"/>
              <a:t> (Earth) or to another approved Weyland-Yutani facility.</a:t>
            </a:r>
          </a:p>
          <a:p>
            <a:r>
              <a:rPr lang="en-US" dirty="0"/>
              <a:t>Rescue surviving crew members of the </a:t>
            </a:r>
            <a:r>
              <a:rPr lang="en-US" i="1" dirty="0"/>
              <a:t>Cronus</a:t>
            </a:r>
            <a:r>
              <a:rPr lang="en-US" dirty="0"/>
              <a:t>.</a:t>
            </a:r>
          </a:p>
          <a:p>
            <a:r>
              <a:rPr lang="en-US" dirty="0"/>
              <a:t>Failure to comply with these priorities will be punished by forfeiture of wages — </a:t>
            </a:r>
            <a:r>
              <a:rPr lang="en-US" i="1" dirty="0"/>
              <a:t>at minimum</a:t>
            </a:r>
            <a:r>
              <a:rPr lang="en-US" dirty="0"/>
              <a:t>.</a:t>
            </a:r>
          </a:p>
          <a:p>
            <a:endParaRPr lang="de-DE" dirty="0"/>
          </a:p>
        </p:txBody>
      </p:sp>
    </p:spTree>
    <p:extLst>
      <p:ext uri="{BB962C8B-B14F-4D97-AF65-F5344CB8AC3E}">
        <p14:creationId xmlns:p14="http://schemas.microsoft.com/office/powerpoint/2010/main" val="2792322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141D3-4680-8872-CA3C-C943EA95E23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1027831-50B4-656E-B0E8-D776C51573E3}"/>
              </a:ext>
            </a:extLst>
          </p:cNvPr>
          <p:cNvSpPr>
            <a:spLocks noGrp="1"/>
          </p:cNvSpPr>
          <p:nvPr>
            <p:ph type="title"/>
          </p:nvPr>
        </p:nvSpPr>
        <p:spPr/>
        <p:txBody>
          <a:bodyPr/>
          <a:lstStyle/>
          <a:p>
            <a:r>
              <a:rPr lang="de-DE" dirty="0"/>
              <a:t>Situation</a:t>
            </a:r>
          </a:p>
        </p:txBody>
      </p:sp>
      <p:sp>
        <p:nvSpPr>
          <p:cNvPr id="3" name="Inhaltsplatzhalter 2">
            <a:extLst>
              <a:ext uri="{FF2B5EF4-FFF2-40B4-BE49-F238E27FC236}">
                <a16:creationId xmlns:a16="http://schemas.microsoft.com/office/drawing/2014/main" id="{E2632FA3-9C42-F2C1-479F-18476651866B}"/>
              </a:ext>
            </a:extLst>
          </p:cNvPr>
          <p:cNvSpPr>
            <a:spLocks noGrp="1"/>
          </p:cNvSpPr>
          <p:nvPr>
            <p:ph idx="1"/>
          </p:nvPr>
        </p:nvSpPr>
        <p:spPr/>
        <p:txBody>
          <a:bodyPr>
            <a:normAutofit/>
          </a:bodyPr>
          <a:lstStyle/>
          <a:p>
            <a:r>
              <a:rPr lang="en-US" dirty="0"/>
              <a:t>As the ship’s AI detects your presence, power systems come online and you hear:</a:t>
            </a:r>
            <a:br>
              <a:rPr lang="en-US" dirty="0"/>
            </a:br>
            <a:r>
              <a:rPr lang="en-US" dirty="0"/>
              <a:t>“Protocol XVz1x — crew revival sequence initiated.”</a:t>
            </a:r>
          </a:p>
          <a:p>
            <a:r>
              <a:rPr lang="en-US" dirty="0"/>
              <a:t>A small number of crew members emerge from their cryo-pods, disoriented from </a:t>
            </a:r>
            <a:r>
              <a:rPr lang="en-US" dirty="0" err="1"/>
              <a:t>hypersleep</a:t>
            </a:r>
            <a:r>
              <a:rPr lang="en-US" dirty="0"/>
              <a:t>. It usually takes several hours before they are able to communicate clearly.</a:t>
            </a:r>
          </a:p>
          <a:p>
            <a:r>
              <a:rPr lang="en-US" dirty="0"/>
              <a:t>Dr. Cooper, the ship’s chief science officer, appears to suffer from severe headaches shortly after being revived.</a:t>
            </a:r>
          </a:p>
          <a:p>
            <a:r>
              <a:rPr lang="en-US" dirty="0"/>
              <a:t>The AI can, however, assist you in navigating your way to the laboratory.</a:t>
            </a:r>
          </a:p>
          <a:p>
            <a:endParaRPr lang="de-DE" dirty="0"/>
          </a:p>
        </p:txBody>
      </p:sp>
    </p:spTree>
    <p:extLst>
      <p:ext uri="{BB962C8B-B14F-4D97-AF65-F5344CB8AC3E}">
        <p14:creationId xmlns:p14="http://schemas.microsoft.com/office/powerpoint/2010/main" val="1098220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71700-5509-4F06-8613-0F5319F251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5CF6A8-B9E1-9A8A-D26B-B7A5648542C8}"/>
              </a:ext>
            </a:extLst>
          </p:cNvPr>
          <p:cNvSpPr>
            <a:spLocks noGrp="1"/>
          </p:cNvSpPr>
          <p:nvPr>
            <p:ph type="title"/>
          </p:nvPr>
        </p:nvSpPr>
        <p:spPr/>
        <p:txBody>
          <a:bodyPr/>
          <a:lstStyle/>
          <a:p>
            <a:endParaRPr lang="de-DE" dirty="0"/>
          </a:p>
        </p:txBody>
      </p:sp>
      <p:pic>
        <p:nvPicPr>
          <p:cNvPr id="5" name="Inhaltsplatzhalter 4">
            <a:extLst>
              <a:ext uri="{FF2B5EF4-FFF2-40B4-BE49-F238E27FC236}">
                <a16:creationId xmlns:a16="http://schemas.microsoft.com/office/drawing/2014/main" id="{A2859E2D-6948-1899-13EF-24C58994CEEA}"/>
              </a:ext>
            </a:extLst>
          </p:cNvPr>
          <p:cNvPicPr>
            <a:picLocks noGrp="1" noChangeAspect="1"/>
          </p:cNvPicPr>
          <p:nvPr>
            <p:ph idx="1"/>
          </p:nvPr>
        </p:nvPicPr>
        <p:blipFill>
          <a:blip r:embed="rId2"/>
          <a:stretch>
            <a:fillRect/>
          </a:stretch>
        </p:blipFill>
        <p:spPr>
          <a:xfrm>
            <a:off x="838200" y="1458964"/>
            <a:ext cx="4607560" cy="4187736"/>
          </a:xfrm>
          <a:prstGeom prst="rect">
            <a:avLst/>
          </a:prstGeom>
        </p:spPr>
      </p:pic>
      <p:sp>
        <p:nvSpPr>
          <p:cNvPr id="3" name="Textfeld 2">
            <a:extLst>
              <a:ext uri="{FF2B5EF4-FFF2-40B4-BE49-F238E27FC236}">
                <a16:creationId xmlns:a16="http://schemas.microsoft.com/office/drawing/2014/main" id="{80850283-A8D9-B4F4-BC11-8AEADB250667}"/>
              </a:ext>
            </a:extLst>
          </p:cNvPr>
          <p:cNvSpPr txBox="1"/>
          <p:nvPr/>
        </p:nvSpPr>
        <p:spPr>
          <a:xfrm>
            <a:off x="6095998" y="2099034"/>
            <a:ext cx="5800725" cy="3785652"/>
          </a:xfrm>
          <a:prstGeom prst="rect">
            <a:avLst/>
          </a:prstGeom>
          <a:noFill/>
        </p:spPr>
        <p:txBody>
          <a:bodyPr wrap="square" rtlCol="0">
            <a:spAutoFit/>
          </a:bodyPr>
          <a:lstStyle/>
          <a:p>
            <a:r>
              <a:rPr lang="en-US" sz="2400" dirty="0"/>
              <a:t>The chief scientific officer of the USCSS </a:t>
            </a:r>
            <a:r>
              <a:rPr lang="en-US" sz="2400" i="1" dirty="0"/>
              <a:t>Cronus</a:t>
            </a:r>
            <a:r>
              <a:rPr lang="en-US" sz="2400" dirty="0"/>
              <a:t> — the person who should, in theory, be able to explain everything that has happened.</a:t>
            </a:r>
          </a:p>
          <a:p>
            <a:endParaRPr lang="en-US" sz="2400" dirty="0"/>
          </a:p>
          <a:p>
            <a:r>
              <a:rPr lang="en-US" sz="2400" dirty="0"/>
              <a:t>Despite the expected effects of </a:t>
            </a:r>
            <a:r>
              <a:rPr lang="en-US" sz="2400" dirty="0" err="1"/>
              <a:t>hypersleep</a:t>
            </a:r>
            <a:r>
              <a:rPr lang="en-US" sz="2400" dirty="0"/>
              <a:t>, Dr. Cooper shows signs of intense neurological distress. He appears to be in severe pain and is, for now, unable to provide meaningful answers</a:t>
            </a:r>
          </a:p>
        </p:txBody>
      </p:sp>
    </p:spTree>
    <p:extLst>
      <p:ext uri="{BB962C8B-B14F-4D97-AF65-F5344CB8AC3E}">
        <p14:creationId xmlns:p14="http://schemas.microsoft.com/office/powerpoint/2010/main" val="141795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9CFA9-1A3F-FA6E-B18F-83E9071078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EADECD8-23D4-AC70-BF03-C5D83D7E2816}"/>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3C675D60-1093-FB82-FCC8-D703F85BD225}"/>
              </a:ext>
            </a:extLst>
          </p:cNvPr>
          <p:cNvSpPr>
            <a:spLocks noGrp="1"/>
          </p:cNvSpPr>
          <p:nvPr>
            <p:ph idx="1"/>
          </p:nvPr>
        </p:nvSpPr>
        <p:spPr/>
        <p:txBody>
          <a:bodyPr/>
          <a:lstStyle/>
          <a:p>
            <a:endParaRPr lang="de-DE" dirty="0"/>
          </a:p>
        </p:txBody>
      </p:sp>
      <p:pic>
        <p:nvPicPr>
          <p:cNvPr id="4" name="Grafik 3">
            <a:extLst>
              <a:ext uri="{FF2B5EF4-FFF2-40B4-BE49-F238E27FC236}">
                <a16:creationId xmlns:a16="http://schemas.microsoft.com/office/drawing/2014/main" id="{C6C386B0-CB82-CA4F-6030-E2148A9D9C01}"/>
              </a:ext>
            </a:extLst>
          </p:cNvPr>
          <p:cNvPicPr>
            <a:picLocks noChangeAspect="1"/>
          </p:cNvPicPr>
          <p:nvPr/>
        </p:nvPicPr>
        <p:blipFill>
          <a:blip r:embed="rId2"/>
          <a:stretch>
            <a:fillRect/>
          </a:stretch>
        </p:blipFill>
        <p:spPr>
          <a:xfrm>
            <a:off x="3441139" y="0"/>
            <a:ext cx="5309721" cy="6858000"/>
          </a:xfrm>
          <a:prstGeom prst="rect">
            <a:avLst/>
          </a:prstGeom>
        </p:spPr>
      </p:pic>
      <p:sp>
        <p:nvSpPr>
          <p:cNvPr id="5" name="Ellipse 4">
            <a:extLst>
              <a:ext uri="{FF2B5EF4-FFF2-40B4-BE49-F238E27FC236}">
                <a16:creationId xmlns:a16="http://schemas.microsoft.com/office/drawing/2014/main" id="{F459853B-B3BC-42A2-5B64-41183CB0D997}"/>
              </a:ext>
            </a:extLst>
          </p:cNvPr>
          <p:cNvSpPr/>
          <p:nvPr/>
        </p:nvSpPr>
        <p:spPr>
          <a:xfrm>
            <a:off x="5314950" y="4124325"/>
            <a:ext cx="1724025" cy="91440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86639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E9FF3-29AB-2011-BBD1-E25DBEAACDA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0F5A4EC-4159-1027-EADC-4BFF9BBFC753}"/>
              </a:ext>
            </a:extLst>
          </p:cNvPr>
          <p:cNvSpPr>
            <a:spLocks noGrp="1"/>
          </p:cNvSpPr>
          <p:nvPr>
            <p:ph type="title"/>
          </p:nvPr>
        </p:nvSpPr>
        <p:spPr/>
        <p:txBody>
          <a:bodyPr/>
          <a:lstStyle/>
          <a:p>
            <a:r>
              <a:rPr lang="de-DE" dirty="0"/>
              <a:t>On </a:t>
            </a:r>
            <a:r>
              <a:rPr lang="de-DE" dirty="0" err="1"/>
              <a:t>the</a:t>
            </a:r>
            <a:r>
              <a:rPr lang="de-DE" dirty="0"/>
              <a:t> Way </a:t>
            </a:r>
            <a:r>
              <a:rPr lang="de-DE" dirty="0" err="1"/>
              <a:t>to</a:t>
            </a:r>
            <a:r>
              <a:rPr lang="de-DE" dirty="0"/>
              <a:t> </a:t>
            </a:r>
            <a:r>
              <a:rPr lang="de-DE" dirty="0" err="1"/>
              <a:t>the</a:t>
            </a:r>
            <a:r>
              <a:rPr lang="de-DE" dirty="0"/>
              <a:t> </a:t>
            </a:r>
            <a:r>
              <a:rPr lang="de-DE" dirty="0" err="1"/>
              <a:t>Sci</a:t>
            </a:r>
            <a:r>
              <a:rPr lang="de-DE" dirty="0"/>
              <a:t>-Lab</a:t>
            </a:r>
          </a:p>
        </p:txBody>
      </p:sp>
      <p:sp>
        <p:nvSpPr>
          <p:cNvPr id="4" name="AutoShape 2">
            <a:extLst>
              <a:ext uri="{FF2B5EF4-FFF2-40B4-BE49-F238E27FC236}">
                <a16:creationId xmlns:a16="http://schemas.microsoft.com/office/drawing/2014/main" id="{6A30C63E-43F4-30FF-D3C6-C9A43277B75F}"/>
              </a:ext>
            </a:extLst>
          </p:cNvPr>
          <p:cNvSpPr>
            <a:spLocks noGrp="1" noChangeAspect="1" noChangeArrowheads="1"/>
          </p:cNvSpPr>
          <p:nvPr>
            <p:ph idx="1"/>
          </p:nvPr>
        </p:nvSpPr>
        <p:spPr bwMode="auto">
          <a:xfrm>
            <a:off x="838200" y="1825625"/>
            <a:ext cx="7056120" cy="4351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p>
            <a:r>
              <a:rPr lang="en-US" dirty="0"/>
              <a:t>You discover a dead creature. Nearby lie a weapon and what appears to be a farewell note.</a:t>
            </a:r>
          </a:p>
          <a:p>
            <a:r>
              <a:rPr lang="en-US" dirty="0"/>
              <a:t>The creature has unnaturally elongated limbs and a bloated, elongated head, giving it a distinctly non-</a:t>
            </a:r>
            <a:r>
              <a:rPr lang="en-US" dirty="0" err="1"/>
              <a:t>humanhumanlike</a:t>
            </a:r>
            <a:r>
              <a:rPr lang="en-US" dirty="0"/>
              <a:t> appearance.</a:t>
            </a:r>
          </a:p>
          <a:p>
            <a:r>
              <a:rPr lang="en-US" dirty="0"/>
              <a:t>The corridors outside the laboratories and infirmary bear unmistakable signs of combat, with scorch marks suggesting at least one fire-related incident.</a:t>
            </a:r>
            <a:endParaRPr lang="de-DE" dirty="0"/>
          </a:p>
        </p:txBody>
      </p:sp>
      <p:pic>
        <p:nvPicPr>
          <p:cNvPr id="5" name="Grafik 4">
            <a:extLst>
              <a:ext uri="{FF2B5EF4-FFF2-40B4-BE49-F238E27FC236}">
                <a16:creationId xmlns:a16="http://schemas.microsoft.com/office/drawing/2014/main" id="{EA7C8BB8-B732-0B2C-B9EC-419B67E2635A}"/>
              </a:ext>
            </a:extLst>
          </p:cNvPr>
          <p:cNvPicPr>
            <a:picLocks noChangeAspect="1"/>
          </p:cNvPicPr>
          <p:nvPr/>
        </p:nvPicPr>
        <p:blipFill>
          <a:blip r:embed="rId2"/>
          <a:stretch>
            <a:fillRect/>
          </a:stretch>
        </p:blipFill>
        <p:spPr>
          <a:xfrm>
            <a:off x="8757920" y="1547698"/>
            <a:ext cx="2692400" cy="4728959"/>
          </a:xfrm>
          <a:prstGeom prst="rect">
            <a:avLst/>
          </a:prstGeom>
        </p:spPr>
      </p:pic>
    </p:spTree>
    <p:extLst>
      <p:ext uri="{BB962C8B-B14F-4D97-AF65-F5344CB8AC3E}">
        <p14:creationId xmlns:p14="http://schemas.microsoft.com/office/powerpoint/2010/main" val="272260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AA76-480E-38E3-AA91-BE943917AF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C498AE7-3391-9007-882B-B7733597F069}"/>
              </a:ext>
            </a:extLst>
          </p:cNvPr>
          <p:cNvSpPr>
            <a:spLocks noGrp="1"/>
          </p:cNvSpPr>
          <p:nvPr>
            <p:ph type="title"/>
          </p:nvPr>
        </p:nvSpPr>
        <p:spPr/>
        <p:txBody>
          <a:bodyPr/>
          <a:lstStyle/>
          <a:p>
            <a:r>
              <a:rPr lang="de-DE" dirty="0" err="1"/>
              <a:t>Med</a:t>
            </a:r>
            <a:r>
              <a:rPr lang="de-DE" dirty="0"/>
              <a:t> Bay</a:t>
            </a:r>
          </a:p>
        </p:txBody>
      </p:sp>
      <p:sp>
        <p:nvSpPr>
          <p:cNvPr id="4" name="AutoShape 2">
            <a:extLst>
              <a:ext uri="{FF2B5EF4-FFF2-40B4-BE49-F238E27FC236}">
                <a16:creationId xmlns:a16="http://schemas.microsoft.com/office/drawing/2014/main" id="{D54E71AD-AD02-EA3C-3B15-DFAC8B456328}"/>
              </a:ext>
            </a:extLst>
          </p:cNvPr>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p>
            <a:r>
              <a:rPr lang="en-US" dirty="0"/>
              <a:t>Two glass containment vessels holding an extraterrestrial organism.</a:t>
            </a:r>
          </a:p>
          <a:p>
            <a:r>
              <a:rPr lang="de-DE" dirty="0"/>
              <a:t>A sample </a:t>
            </a:r>
            <a:r>
              <a:rPr lang="de-DE" dirty="0" err="1"/>
              <a:t>tube</a:t>
            </a:r>
            <a:r>
              <a:rPr lang="de-DE" dirty="0"/>
              <a:t> </a:t>
            </a:r>
            <a:r>
              <a:rPr lang="de-DE" dirty="0" err="1"/>
              <a:t>containing</a:t>
            </a:r>
            <a:r>
              <a:rPr lang="de-DE" dirty="0"/>
              <a:t> </a:t>
            </a:r>
            <a:r>
              <a:rPr lang="de-DE" dirty="0" err="1"/>
              <a:t>fungus</a:t>
            </a:r>
            <a:r>
              <a:rPr lang="de-DE" dirty="0"/>
              <a:t>-like </a:t>
            </a:r>
            <a:r>
              <a:rPr lang="de-DE" dirty="0" err="1"/>
              <a:t>nodular</a:t>
            </a:r>
            <a:r>
              <a:rPr lang="de-DE" dirty="0"/>
              <a:t> material.</a:t>
            </a:r>
          </a:p>
          <a:p>
            <a:r>
              <a:rPr lang="en-US" dirty="0"/>
              <a:t>A metallic urn containing four organic-looking glass vials filled with a black liquid.</a:t>
            </a:r>
          </a:p>
          <a:p>
            <a:r>
              <a:rPr lang="en-US" dirty="0"/>
              <a:t>On the desk, you find a medical case containing six syringes filled with a fluid similar to that found in the vials.</a:t>
            </a:r>
          </a:p>
          <a:p>
            <a:r>
              <a:rPr lang="en-US" dirty="0"/>
              <a:t>In one of the med-pods, there is a creature similar to the one found in the corridor — however, it appears to have been dissected.</a:t>
            </a:r>
          </a:p>
          <a:p>
            <a:endParaRPr lang="de-DE" dirty="0"/>
          </a:p>
        </p:txBody>
      </p:sp>
    </p:spTree>
    <p:extLst>
      <p:ext uri="{BB962C8B-B14F-4D97-AF65-F5344CB8AC3E}">
        <p14:creationId xmlns:p14="http://schemas.microsoft.com/office/powerpoint/2010/main" val="117112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165E8-9D3E-05B5-80F0-D43353A73EB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F222827-5E6F-A681-7E91-75EBE9FBEC72}"/>
              </a:ext>
            </a:extLst>
          </p:cNvPr>
          <p:cNvSpPr>
            <a:spLocks noGrp="1"/>
          </p:cNvSpPr>
          <p:nvPr>
            <p:ph type="title"/>
          </p:nvPr>
        </p:nvSpPr>
        <p:spPr/>
        <p:txBody>
          <a:bodyPr/>
          <a:lstStyle/>
          <a:p>
            <a:r>
              <a:rPr lang="de-DE" dirty="0"/>
              <a:t>Laboratory 1</a:t>
            </a:r>
          </a:p>
        </p:txBody>
      </p:sp>
      <p:sp>
        <p:nvSpPr>
          <p:cNvPr id="3" name="Inhaltsplatzhalter 2">
            <a:extLst>
              <a:ext uri="{FF2B5EF4-FFF2-40B4-BE49-F238E27FC236}">
                <a16:creationId xmlns:a16="http://schemas.microsoft.com/office/drawing/2014/main" id="{0A756AD3-8B2E-86BF-88DD-D91C18D46435}"/>
              </a:ext>
            </a:extLst>
          </p:cNvPr>
          <p:cNvSpPr>
            <a:spLocks noGrp="1"/>
          </p:cNvSpPr>
          <p:nvPr>
            <p:ph idx="1"/>
          </p:nvPr>
        </p:nvSpPr>
        <p:spPr/>
        <p:txBody>
          <a:bodyPr/>
          <a:lstStyle/>
          <a:p>
            <a:r>
              <a:rPr lang="en-US" dirty="0"/>
              <a:t>The room is completely burned out.</a:t>
            </a:r>
          </a:p>
          <a:p>
            <a:r>
              <a:rPr lang="en-US" dirty="0"/>
              <a:t>The fire does not appear to have been caused by natural means.</a:t>
            </a:r>
          </a:p>
          <a:p>
            <a:r>
              <a:rPr lang="en-US" dirty="0"/>
              <a:t>Among the melted plastic debris lies a body that, upon closer inspection, resembles the creature found in the corridor.</a:t>
            </a:r>
            <a:endParaRPr lang="de-DE" dirty="0"/>
          </a:p>
        </p:txBody>
      </p:sp>
    </p:spTree>
    <p:extLst>
      <p:ext uri="{BB962C8B-B14F-4D97-AF65-F5344CB8AC3E}">
        <p14:creationId xmlns:p14="http://schemas.microsoft.com/office/powerpoint/2010/main" val="3552662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58AE-0574-AF84-3EF3-3E89BCBAEA1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60FCDE-F8E8-523F-9758-F202D2EA0A7B}"/>
              </a:ext>
            </a:extLst>
          </p:cNvPr>
          <p:cNvSpPr>
            <a:spLocks noGrp="1"/>
          </p:cNvSpPr>
          <p:nvPr>
            <p:ph type="title"/>
          </p:nvPr>
        </p:nvSpPr>
        <p:spPr/>
        <p:txBody>
          <a:bodyPr/>
          <a:lstStyle/>
          <a:p>
            <a:r>
              <a:rPr lang="de-DE" dirty="0"/>
              <a:t>Laboratory 2</a:t>
            </a:r>
          </a:p>
        </p:txBody>
      </p:sp>
      <p:sp>
        <p:nvSpPr>
          <p:cNvPr id="3" name="Inhaltsplatzhalter 2">
            <a:extLst>
              <a:ext uri="{FF2B5EF4-FFF2-40B4-BE49-F238E27FC236}">
                <a16:creationId xmlns:a16="http://schemas.microsoft.com/office/drawing/2014/main" id="{2CB77DE5-961C-3614-C71F-D08DD09E799F}"/>
              </a:ext>
            </a:extLst>
          </p:cNvPr>
          <p:cNvSpPr>
            <a:spLocks noGrp="1"/>
          </p:cNvSpPr>
          <p:nvPr>
            <p:ph idx="1"/>
          </p:nvPr>
        </p:nvSpPr>
        <p:spPr/>
        <p:txBody>
          <a:bodyPr/>
          <a:lstStyle/>
          <a:p>
            <a:r>
              <a:rPr lang="en-US" dirty="0"/>
              <a:t>Sorted skeletal remains, not all of which appear to be human — or at least display unusual deformities.</a:t>
            </a:r>
          </a:p>
          <a:p>
            <a:r>
              <a:rPr lang="en-US" dirty="0"/>
              <a:t>Black, pod-like growths, resembling some form of spore sacs.</a:t>
            </a:r>
          </a:p>
          <a:p>
            <a:r>
              <a:rPr lang="en-US" dirty="0"/>
              <a:t>A computer terminal containing a folder of research data on the crew members — far more extensive than what would be expected from standard </a:t>
            </a:r>
            <a:r>
              <a:rPr lang="en-US" dirty="0" err="1"/>
              <a:t>hypersleep</a:t>
            </a:r>
            <a:r>
              <a:rPr lang="en-US" dirty="0"/>
              <a:t> monitoring.</a:t>
            </a:r>
            <a:endParaRPr lang="de-DE" dirty="0"/>
          </a:p>
        </p:txBody>
      </p:sp>
    </p:spTree>
    <p:extLst>
      <p:ext uri="{BB962C8B-B14F-4D97-AF65-F5344CB8AC3E}">
        <p14:creationId xmlns:p14="http://schemas.microsoft.com/office/powerpoint/2010/main" val="391300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09990-8A25-F8B6-7EB5-F818ED244F0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CD3C49-6323-D3BD-A04D-494529BBE98E}"/>
              </a:ext>
            </a:extLst>
          </p:cNvPr>
          <p:cNvSpPr>
            <a:spLocks noGrp="1"/>
          </p:cNvSpPr>
          <p:nvPr>
            <p:ph type="title"/>
          </p:nvPr>
        </p:nvSpPr>
        <p:spPr/>
        <p:txBody>
          <a:bodyPr/>
          <a:lstStyle/>
          <a:p>
            <a:r>
              <a:rPr lang="de-DE" dirty="0"/>
              <a:t>RNA </a:t>
            </a:r>
            <a:r>
              <a:rPr lang="de-DE" dirty="0" err="1"/>
              <a:t>Sequencing</a:t>
            </a:r>
            <a:r>
              <a:rPr lang="de-DE" dirty="0"/>
              <a:t> Data </a:t>
            </a:r>
            <a:r>
              <a:rPr lang="de-DE" dirty="0">
                <a:sym typeface="Wingdings" panose="05000000000000000000" pitchFamily="2" charset="2"/>
              </a:rPr>
              <a:t></a:t>
            </a:r>
            <a:endParaRPr lang="de-DE" dirty="0"/>
          </a:p>
        </p:txBody>
      </p:sp>
      <p:sp>
        <p:nvSpPr>
          <p:cNvPr id="3" name="Inhaltsplatzhalter 2">
            <a:extLst>
              <a:ext uri="{FF2B5EF4-FFF2-40B4-BE49-F238E27FC236}">
                <a16:creationId xmlns:a16="http://schemas.microsoft.com/office/drawing/2014/main" id="{C0117B1D-8EB6-0E1A-7DEA-ED2EBAAC20FF}"/>
              </a:ext>
            </a:extLst>
          </p:cNvPr>
          <p:cNvSpPr>
            <a:spLocks noGrp="1"/>
          </p:cNvSpPr>
          <p:nvPr>
            <p:ph idx="1"/>
          </p:nvPr>
        </p:nvSpPr>
        <p:spPr/>
        <p:txBody>
          <a:bodyPr/>
          <a:lstStyle/>
          <a:p>
            <a:r>
              <a:rPr lang="en-US" dirty="0"/>
              <a:t>The folder contains data from multiple sequencing runs, each annotated with date, age, and sex of the patients.</a:t>
            </a:r>
            <a:br>
              <a:rPr lang="en-US" dirty="0"/>
            </a:br>
            <a:r>
              <a:rPr lang="en-US" dirty="0"/>
              <a:t>In addition, there are several error warnings indicating that problems occurred either during sample collection or processing, likely due to power failures in the ship’s systems. Some samples also appear to have been collected under adverse conditions.</a:t>
            </a:r>
            <a:endParaRPr lang="de-DE" dirty="0"/>
          </a:p>
          <a:p>
            <a:r>
              <a:rPr lang="en-US" dirty="0"/>
              <a:t>The question remains: How are you supposed to find out what actually happened here…?</a:t>
            </a:r>
            <a:endParaRPr lang="de-DE" dirty="0"/>
          </a:p>
        </p:txBody>
      </p:sp>
    </p:spTree>
    <p:extLst>
      <p:ext uri="{BB962C8B-B14F-4D97-AF65-F5344CB8AC3E}">
        <p14:creationId xmlns:p14="http://schemas.microsoft.com/office/powerpoint/2010/main" val="178323881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1120</Words>
  <Application>Microsoft Office PowerPoint</Application>
  <PresentationFormat>Breitbild</PresentationFormat>
  <Paragraphs>56</Paragraphs>
  <Slides>13</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13</vt:i4>
      </vt:variant>
    </vt:vector>
  </HeadingPairs>
  <TitlesOfParts>
    <vt:vector size="18" baseType="lpstr">
      <vt:lpstr>Aptos</vt:lpstr>
      <vt:lpstr>Aptos Display</vt:lpstr>
      <vt:lpstr>Arial</vt:lpstr>
      <vt:lpstr>Wingdings</vt:lpstr>
      <vt:lpstr>Office</vt:lpstr>
      <vt:lpstr>PowerPoint-Präsentation</vt:lpstr>
      <vt:lpstr>PowerPoint-Präsentation</vt:lpstr>
      <vt:lpstr>PowerPoint-Präsentation</vt:lpstr>
      <vt:lpstr>PowerPoint-Präsentation</vt:lpstr>
      <vt:lpstr>“A Recovery Mission Is Mandatory Under Corporate Policy”</vt:lpstr>
      <vt:lpstr>Situation</vt:lpstr>
      <vt:lpstr>PowerPoint-Präsentation</vt:lpstr>
      <vt:lpstr>PowerPoint-Präsentation</vt:lpstr>
      <vt:lpstr>On the Way to the Sci-Lab</vt:lpstr>
      <vt:lpstr>Med Bay</vt:lpstr>
      <vt:lpstr>Laboratory 1</vt:lpstr>
      <vt:lpstr>Laboratory 2</vt:lpstr>
      <vt:lpstr>RNA Sequencing Data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Wolter, Johannes</dc:creator>
  <cp:lastModifiedBy>Wolter, Johannes</cp:lastModifiedBy>
  <cp:revision>11</cp:revision>
  <dcterms:created xsi:type="dcterms:W3CDTF">2025-12-04T08:55:31Z</dcterms:created>
  <dcterms:modified xsi:type="dcterms:W3CDTF">2026-03-16T15:18:28Z</dcterms:modified>
</cp:coreProperties>
</file>